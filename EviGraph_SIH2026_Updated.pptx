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C2A"/>
    <a:srgbClr val="00863D"/>
    <a:srgbClr val="09FF78"/>
    <a:srgbClr val="FF7C80"/>
    <a:srgbClr val="DCF0C6"/>
    <a:srgbClr val="D0EBB3"/>
    <a:srgbClr val="CEEAB0"/>
    <a:srgbClr val="B4DE86"/>
    <a:srgbClr val="8368A4"/>
    <a:srgbClr val="FFD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6" autoAdjust="0"/>
    <p:restoredTop sz="90029" autoAdjust="0"/>
  </p:normalViewPr>
  <p:slideViewPr>
    <p:cSldViewPr snapToGrid="0" snapToObjects="1">
      <p:cViewPr varScale="1">
        <p:scale>
          <a:sx n="72" d="100"/>
          <a:sy n="72" d="100"/>
        </p:scale>
        <p:origin x="9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urishetti Jayaram" userId="21724149fae35417" providerId="LiveId" clId="{67A09BA4-D430-4422-AC28-E7589F6A3BF0}"/>
    <pc:docChg chg="modSld">
      <pc:chgData name="Gourishetti Jayaram" userId="21724149fae35417" providerId="LiveId" clId="{67A09BA4-D430-4422-AC28-E7589F6A3BF0}" dt="2026-09-14T21:32:42.624" v="3" actId="20577"/>
      <pc:docMkLst>
        <pc:docMk/>
      </pc:docMkLst>
      <pc:sldChg chg="modSp mod">
        <pc:chgData name="Gourishetti Jayaram" userId="21724149fae35417" providerId="LiveId" clId="{67A09BA4-D430-4422-AC28-E7589F6A3BF0}" dt="2026-09-14T21:32:42.624" v="3" actId="20577"/>
        <pc:sldMkLst>
          <pc:docMk/>
          <pc:sldMk cId="0" sldId="290"/>
        </pc:sldMkLst>
        <pc:spChg chg="mod">
          <ac:chgData name="Gourishetti Jayaram" userId="21724149fae35417" providerId="LiveId" clId="{67A09BA4-D430-4422-AC28-E7589F6A3BF0}" dt="2026-09-14T21:32:07.261" v="1" actId="14100"/>
          <ac:spMkLst>
            <pc:docMk/>
            <pc:sldMk cId="0" sldId="290"/>
            <ac:spMk id="17481" creationId="{DA9B906B-2B4B-3059-9657-3048795F16AF}"/>
          </ac:spMkLst>
        </pc:spChg>
        <pc:spChg chg="mod">
          <ac:chgData name="Gourishetti Jayaram" userId="21724149fae35417" providerId="LiveId" clId="{67A09BA4-D430-4422-AC28-E7589F6A3BF0}" dt="2026-09-14T21:32:42.624" v="3" actId="20577"/>
          <ac:spMkLst>
            <pc:docMk/>
            <pc:sldMk cId="0" sldId="290"/>
            <ac:spMk id="17661" creationId="{E854658B-F643-F44F-2C3E-53BD8D61DAB6}"/>
          </ac:spMkLst>
        </pc:spChg>
      </pc:sldChg>
      <pc:sldChg chg="modSp mod">
        <pc:chgData name="Gourishetti Jayaram" userId="21724149fae35417" providerId="LiveId" clId="{67A09BA4-D430-4422-AC28-E7589F6A3BF0}" dt="2026-09-14T21:31:48.590" v="0" actId="20577"/>
        <pc:sldMkLst>
          <pc:docMk/>
          <pc:sldMk cId="0" sldId="291"/>
        </pc:sldMkLst>
        <pc:spChg chg="mod">
          <ac:chgData name="Gourishetti Jayaram" userId="21724149fae35417" providerId="LiveId" clId="{67A09BA4-D430-4422-AC28-E7589F6A3BF0}" dt="2026-09-14T21:31:48.590" v="0" actId="20577"/>
          <ac:spMkLst>
            <pc:docMk/>
            <pc:sldMk cId="0" sldId="291"/>
            <ac:spMk id="10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eg"/><Relationship Id="rId11" Type="http://schemas.openxmlformats.org/officeDocument/2006/relationships/image" Target="../media/image10.png"/><Relationship Id="rId12" Type="http://schemas.openxmlformats.org/officeDocument/2006/relationships/image" Target="../media/image11.jpe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cina.gmu.edu/projects/using-deep-learning-to-extract-and-analyze-dynamic-knowledge-graphs-of-criminal-networks-from-publicly-available-text/" TargetMode="External"/><Relationship Id="rId5" Type="http://schemas.openxmlformats.org/officeDocument/2006/relationships/hyperlink" Target="https://www.isca-archive.org/fabien21_interspeech.pdf" TargetMode="External"/><Relationship Id="rId6" Type="http://schemas.openxmlformats.org/officeDocument/2006/relationships/hyperlink" Target="https://arxiv.org/pdf/0803.0476" TargetMode="External"/><Relationship Id="rId7" Type="http://schemas.openxmlformats.org/officeDocument/2006/relationships/hyperlink" Target="https://docs.ultralytics.com/models/yolov8" TargetMode="External"/><Relationship Id="rId8" Type="http://schemas.openxmlformats.org/officeDocument/2006/relationships/hyperlink" Target="https://docs.opencv.org/5.0/" TargetMode="External"/><Relationship Id="rId9" Type="http://schemas.openxmlformats.org/officeDocument/2006/relationships/hyperlink" Target="https://github.com/JaidedAI/EasyOCR" TargetMode="External"/><Relationship Id="rId10" Type="http://schemas.openxmlformats.org/officeDocument/2006/relationships/hyperlink" Target="https://hyperledger-fabric.readthedocs.io/en/release-2.5/" TargetMode="External"/><Relationship Id="rId11" Type="http://schemas.openxmlformats.org/officeDocument/2006/relationships/hyperlink" Target="https://nvlpubs.nist.gov/nistpubs/FIPS/NIST.FIPS.180-4.pdf" TargetMode="External"/><Relationship Id="rId12" Type="http://schemas.openxmlformats.org/officeDocument/2006/relationships/hyperlink" Target="https://spacy.io/usage/linguistic-features" TargetMode="External"/><Relationship Id="rId13" Type="http://schemas.openxmlformats.org/officeDocument/2006/relationships/hyperlink" Target="https://arxiv.org/pdf/2005.11401" TargetMode="External"/><Relationship Id="rId14" Type="http://schemas.openxmlformats.org/officeDocument/2006/relationships/hyperlink" Target="https://react.dev/" TargetMode="External"/><Relationship Id="rId15" Type="http://schemas.openxmlformats.org/officeDocument/2006/relationships/hyperlink" Target="https://fastapi.tiangolo.com/" TargetMode="External"/><Relationship Id="rId16" Type="http://schemas.openxmlformats.org/officeDocument/2006/relationships/hyperlink" Target="https://scikit-learn.org/stable/getting_started.html" TargetMode="External"/><Relationship Id="rId17" Type="http://schemas.openxmlformats.org/officeDocument/2006/relationships/hyperlink" Target="https://www.sqlite.org/doc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278183" y="1613127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613127"/>
            <a:ext cx="592455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26189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Criminal Network Analysis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NIRVANA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645168"/>
            <a:ext cx="12191999" cy="21283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136227" y="-52415"/>
            <a:ext cx="7685690" cy="777716"/>
          </a:xfrm>
        </p:spPr>
        <p:txBody>
          <a:bodyPr/>
          <a:lstStyle/>
          <a:p>
            <a:pPr eaLnBrk="1" hangingPunct="1"/>
            <a:r>
              <a:rPr lang="en-US" sz="18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EviGraph</a:t>
            </a:r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: </a:t>
            </a:r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AI-Powered</a:t>
            </a:r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Criminal Network Analysis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3291" y="36972"/>
            <a:ext cx="1491144" cy="62518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NIRVANA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3255" y="36972"/>
            <a:ext cx="1356680" cy="62518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6C40F9-2CAE-15F9-5112-C9F227792A5D}"/>
              </a:ext>
            </a:extLst>
          </p:cNvPr>
          <p:cNvCxnSpPr/>
          <p:nvPr/>
        </p:nvCxnSpPr>
        <p:spPr>
          <a:xfrm>
            <a:off x="14450" y="725389"/>
            <a:ext cx="121630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1D196CB-2F18-58F8-05AB-DA196F2A0F03}"/>
              </a:ext>
            </a:extLst>
          </p:cNvPr>
          <p:cNvSpPr/>
          <p:nvPr/>
        </p:nvSpPr>
        <p:spPr>
          <a:xfrm>
            <a:off x="4876798" y="797413"/>
            <a:ext cx="7187751" cy="577564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DB1CA-A588-45C9-858A-B8FCC69BDC9B}"/>
              </a:ext>
            </a:extLst>
          </p:cNvPr>
          <p:cNvSpPr txBox="1"/>
          <p:nvPr/>
        </p:nvSpPr>
        <p:spPr>
          <a:xfrm>
            <a:off x="4834757" y="797412"/>
            <a:ext cx="7342790" cy="5993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 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Breaks Data Silos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Unifies fragmented investigation sources into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connected view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manual cross-referencing.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Reveals Hidden Connections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Multi-Hop Graph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exposes indirect relationships that may be difficult to identify through record-by-record investigation.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Key Actors &amp; Clusters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&amp; Betweenness Centrality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highly connected individuals, important intermediaries and suspicious clusters.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Identity &amp; Verification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vehicle analysis + plate recognition using YOLOv8 + RTO verification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identify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conflicting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 identities.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Spatial-Temporal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Correlates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who, where and when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potential co-presence, movement patterns and find location history to identify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Hotspots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Of The Solution 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Investigation: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investigators to ask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natural-language questions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receive relevant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relationships, analytical insights and supporting evidence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Evidence-Backed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Links discovered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relationships, patterns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anomalies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their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supporting evidence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 records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confidence scores 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enabling investigator validation.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Human-in-the-Loop Decision Support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AI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surfaces connections, patterns and evidence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investigator retains control over interpretation and final decisions. </a:t>
            </a:r>
          </a:p>
          <a:p>
            <a:endParaRPr lang="en-IN" sz="1550" b="1" dirty="0">
              <a:solidFill>
                <a:schemeClr val="accent1"/>
              </a:solidFill>
            </a:endParaRPr>
          </a:p>
        </p:txBody>
      </p:sp>
      <p:sp>
        <p:nvSpPr>
          <p:cNvPr id="15362" name="Rectangle 15361"/>
          <p:cNvSpPr/>
          <p:nvPr/>
        </p:nvSpPr>
        <p:spPr>
          <a:xfrm>
            <a:off x="90000" y="800000"/>
            <a:ext cx="4650000" cy="3250000"/>
          </a:xfrm>
          <a:prstGeom prst="rect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3" name="Picture 15362" descr="EviGraph_Circular_Connected_Architecture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00" y="880000"/>
            <a:ext cx="4490000" cy="3090000"/>
          </a:xfrm>
          <a:prstGeom prst="rect">
            <a:avLst/>
          </a:prstGeom>
        </p:spPr>
      </p:pic>
      <p:sp>
        <p:nvSpPr>
          <p:cNvPr id="15364" name="Rectangle 15363"/>
          <p:cNvSpPr/>
          <p:nvPr/>
        </p:nvSpPr>
        <p:spPr>
          <a:xfrm>
            <a:off x="90000" y="4120000"/>
            <a:ext cx="4650000" cy="2450000"/>
          </a:xfrm>
          <a:prstGeom prst="rect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170000" y="4180000"/>
            <a:ext cx="4490000" cy="2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556B2F"/>
                </a:solidFill>
                <a:latin typeface="Times New Roman"/>
              </a:defRPr>
            </a:pPr>
            <a:r>
              <a:t>Explanation of Proposed Solution :</a:t>
            </a:r>
          </a:p>
          <a:p>
            <a:r>
              <a:rPr b="1" sz="1300">
                <a:latin typeface="Times New Roman"/>
              </a:rPr>
              <a:t>EviGraph </a:t>
            </a:r>
            <a:r>
              <a:rPr sz="1300">
                <a:latin typeface="Times New Roman"/>
              </a:rPr>
              <a:t>is an AI-powered Criminal Network Analysis System that converts heterogeneous investigation data into a </a:t>
            </a:r>
            <a:r>
              <a:rPr b="1" sz="1300">
                <a:latin typeface="Times New Roman"/>
              </a:rPr>
              <a:t>unified, evidence-backed knowledge graph.</a:t>
            </a:r>
          </a:p>
          <a:p>
            <a:r>
              <a:rPr b="1" sz="1200">
                <a:latin typeface="Times New Roman"/>
              </a:rPr>
              <a:t>➢ Multi-Source AI Data Processing: </a:t>
            </a:r>
            <a:r>
              <a:rPr sz="1200">
                <a:latin typeface="Times New Roman"/>
              </a:rPr>
              <a:t>Unifies FIRs, CDRs, financial records, CCTV feeds, and location data, while NLP-based entity extraction and normalization identifies persons, phones, vehicles, accounts, and events.</a:t>
            </a:r>
          </a:p>
          <a:p>
            <a:r>
              <a:rPr b="1" sz="1200">
                <a:latin typeface="Times New Roman"/>
              </a:rPr>
              <a:t>➢ Criminal Knowledge Graph: </a:t>
            </a:r>
            <a:r>
              <a:rPr sz="1200">
                <a:latin typeface="Times New Roman"/>
              </a:rPr>
              <a:t>Converts extracted entities and relationships into an interconnected graph, providing a unified visual representation of the entire criminal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70555"/>
            <a:ext cx="12191999" cy="15879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39481" y="0"/>
            <a:ext cx="8221437" cy="586328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516" y="55714"/>
            <a:ext cx="1762566" cy="56910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NIRVANA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706" y="1501"/>
            <a:ext cx="1310229" cy="58632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9D09D0-7DCC-1FDC-C5E2-5D3D8D13209F}"/>
              </a:ext>
            </a:extLst>
          </p:cNvPr>
          <p:cNvCxnSpPr>
            <a:cxnSpLocks/>
          </p:cNvCxnSpPr>
          <p:nvPr/>
        </p:nvCxnSpPr>
        <p:spPr>
          <a:xfrm flipV="1">
            <a:off x="-1" y="663304"/>
            <a:ext cx="12192000" cy="172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DFC4F0-F12F-B9D8-4720-B44424BBAE89}"/>
              </a:ext>
            </a:extLst>
          </p:cNvPr>
          <p:cNvCxnSpPr>
            <a:cxnSpLocks/>
          </p:cNvCxnSpPr>
          <p:nvPr/>
        </p:nvCxnSpPr>
        <p:spPr>
          <a:xfrm>
            <a:off x="1028115" y="2206121"/>
            <a:ext cx="471247" cy="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A6D9D6C-0316-46BF-C0EA-A7EE20AA9DA0}"/>
              </a:ext>
            </a:extLst>
          </p:cNvPr>
          <p:cNvSpPr/>
          <p:nvPr/>
        </p:nvSpPr>
        <p:spPr>
          <a:xfrm>
            <a:off x="48401" y="1989541"/>
            <a:ext cx="979714" cy="43316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Investigator Login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B29C48-F9C3-F57F-552C-DC75AF475757}"/>
              </a:ext>
            </a:extLst>
          </p:cNvPr>
          <p:cNvSpPr/>
          <p:nvPr/>
        </p:nvSpPr>
        <p:spPr>
          <a:xfrm>
            <a:off x="1512091" y="1989541"/>
            <a:ext cx="1091732" cy="43316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Create/Select Existing Case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CD465B-34AE-F3AF-FECC-AF78E15978F4}"/>
              </a:ext>
            </a:extLst>
          </p:cNvPr>
          <p:cNvCxnSpPr>
            <a:cxnSpLocks/>
          </p:cNvCxnSpPr>
          <p:nvPr/>
        </p:nvCxnSpPr>
        <p:spPr>
          <a:xfrm>
            <a:off x="2603823" y="2198288"/>
            <a:ext cx="579843" cy="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2D8751F-6F41-F69B-329B-FB3130534E01}"/>
              </a:ext>
            </a:extLst>
          </p:cNvPr>
          <p:cNvSpPr/>
          <p:nvPr/>
        </p:nvSpPr>
        <p:spPr>
          <a:xfrm>
            <a:off x="695254" y="1130975"/>
            <a:ext cx="705639" cy="29031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</a:t>
            </a:r>
            <a:endParaRPr lang="en-IN" sz="12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677A8E-E4D3-0923-E182-46DE081C442E}"/>
              </a:ext>
            </a:extLst>
          </p:cNvPr>
          <p:cNvSpPr/>
          <p:nvPr/>
        </p:nvSpPr>
        <p:spPr>
          <a:xfrm>
            <a:off x="3459297" y="1091951"/>
            <a:ext cx="1080922" cy="34750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</a:t>
            </a:r>
            <a:endParaRPr lang="en-IN" sz="12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76A7D27-2384-7251-2DBE-EE7862D1AC24}"/>
              </a:ext>
            </a:extLst>
          </p:cNvPr>
          <p:cNvSpPr/>
          <p:nvPr/>
        </p:nvSpPr>
        <p:spPr>
          <a:xfrm>
            <a:off x="2505614" y="1091951"/>
            <a:ext cx="850784" cy="33750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CCTV</a:t>
            </a:r>
            <a:endParaRPr lang="en-IN" sz="12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857C261-F561-DA90-25F4-EFB450D90D17}"/>
              </a:ext>
            </a:extLst>
          </p:cNvPr>
          <p:cNvSpPr/>
          <p:nvPr/>
        </p:nvSpPr>
        <p:spPr>
          <a:xfrm>
            <a:off x="1614860" y="1101167"/>
            <a:ext cx="705639" cy="33828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CDR</a:t>
            </a:r>
            <a:endParaRPr lang="en-IN" sz="12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A28FD5D-B5A2-77B9-15D4-E0AF06604F95}"/>
              </a:ext>
            </a:extLst>
          </p:cNvPr>
          <p:cNvSpPr/>
          <p:nvPr/>
        </p:nvSpPr>
        <p:spPr>
          <a:xfrm>
            <a:off x="4754186" y="1096519"/>
            <a:ext cx="1010676" cy="33908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endParaRPr lang="en-IN" sz="12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9C39BF1-23D5-6905-B6EE-70E8E686C33E}"/>
              </a:ext>
            </a:extLst>
          </p:cNvPr>
          <p:cNvSpPr/>
          <p:nvPr/>
        </p:nvSpPr>
        <p:spPr>
          <a:xfrm>
            <a:off x="5913420" y="1040400"/>
            <a:ext cx="850784" cy="42005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en-IN" sz="12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C237A51-0F39-EA0C-E39E-CDC49A1CF928}"/>
              </a:ext>
            </a:extLst>
          </p:cNvPr>
          <p:cNvCxnSpPr>
            <a:cxnSpLocks/>
          </p:cNvCxnSpPr>
          <p:nvPr/>
        </p:nvCxnSpPr>
        <p:spPr>
          <a:xfrm flipV="1">
            <a:off x="1028115" y="1733607"/>
            <a:ext cx="5310697" cy="2607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35695F6-2129-41BF-2EEC-2A3A53A73924}"/>
              </a:ext>
            </a:extLst>
          </p:cNvPr>
          <p:cNvCxnSpPr/>
          <p:nvPr/>
        </p:nvCxnSpPr>
        <p:spPr>
          <a:xfrm>
            <a:off x="1028115" y="1486757"/>
            <a:ext cx="0" cy="249457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9206D88-E117-3FEB-B9EF-326E8A0CDB3C}"/>
              </a:ext>
            </a:extLst>
          </p:cNvPr>
          <p:cNvCxnSpPr>
            <a:cxnSpLocks/>
          </p:cNvCxnSpPr>
          <p:nvPr/>
        </p:nvCxnSpPr>
        <p:spPr>
          <a:xfrm flipH="1">
            <a:off x="2931006" y="1440163"/>
            <a:ext cx="6408" cy="262608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863039C-39B6-F729-C38F-8EDDE051CB64}"/>
              </a:ext>
            </a:extLst>
          </p:cNvPr>
          <p:cNvCxnSpPr>
            <a:cxnSpLocks/>
          </p:cNvCxnSpPr>
          <p:nvPr/>
        </p:nvCxnSpPr>
        <p:spPr>
          <a:xfrm>
            <a:off x="1967679" y="1460456"/>
            <a:ext cx="0" cy="275758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1ABDDAC-4C2C-D5A4-45EB-6C685D6F614F}"/>
              </a:ext>
            </a:extLst>
          </p:cNvPr>
          <p:cNvCxnSpPr>
            <a:cxnSpLocks/>
          </p:cNvCxnSpPr>
          <p:nvPr/>
        </p:nvCxnSpPr>
        <p:spPr>
          <a:xfrm>
            <a:off x="3999758" y="1486756"/>
            <a:ext cx="0" cy="2494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Straight Connector 17412">
            <a:extLst>
              <a:ext uri="{FF2B5EF4-FFF2-40B4-BE49-F238E27FC236}">
                <a16:creationId xmlns:a16="http://schemas.microsoft.com/office/drawing/2014/main" id="{B910C45D-1D61-E1D0-14DF-11E2EA5B8189}"/>
              </a:ext>
            </a:extLst>
          </p:cNvPr>
          <p:cNvCxnSpPr>
            <a:cxnSpLocks/>
          </p:cNvCxnSpPr>
          <p:nvPr/>
        </p:nvCxnSpPr>
        <p:spPr>
          <a:xfrm flipH="1">
            <a:off x="5249912" y="1461259"/>
            <a:ext cx="6408" cy="262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Straight Connector 17413">
            <a:extLst>
              <a:ext uri="{FF2B5EF4-FFF2-40B4-BE49-F238E27FC236}">
                <a16:creationId xmlns:a16="http://schemas.microsoft.com/office/drawing/2014/main" id="{230680E4-D182-925D-B10C-723C04023B12}"/>
              </a:ext>
            </a:extLst>
          </p:cNvPr>
          <p:cNvCxnSpPr>
            <a:cxnSpLocks/>
          </p:cNvCxnSpPr>
          <p:nvPr/>
        </p:nvCxnSpPr>
        <p:spPr>
          <a:xfrm flipH="1">
            <a:off x="6341960" y="1486756"/>
            <a:ext cx="6408" cy="23689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Straight Arrow Connector 17420">
            <a:extLst>
              <a:ext uri="{FF2B5EF4-FFF2-40B4-BE49-F238E27FC236}">
                <a16:creationId xmlns:a16="http://schemas.microsoft.com/office/drawing/2014/main" id="{9F753F9F-BEF6-A24F-1C93-53ACC2E5A5DF}"/>
              </a:ext>
            </a:extLst>
          </p:cNvPr>
          <p:cNvCxnSpPr>
            <a:cxnSpLocks/>
          </p:cNvCxnSpPr>
          <p:nvPr/>
        </p:nvCxnSpPr>
        <p:spPr>
          <a:xfrm>
            <a:off x="3704659" y="1745274"/>
            <a:ext cx="0" cy="253327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29" name="Rectangle: Rounded Corners 17428">
            <a:extLst>
              <a:ext uri="{FF2B5EF4-FFF2-40B4-BE49-F238E27FC236}">
                <a16:creationId xmlns:a16="http://schemas.microsoft.com/office/drawing/2014/main" id="{84D00B00-88BA-4E50-665B-88AAB72F85CF}"/>
              </a:ext>
            </a:extLst>
          </p:cNvPr>
          <p:cNvSpPr/>
          <p:nvPr/>
        </p:nvSpPr>
        <p:spPr>
          <a:xfrm>
            <a:off x="3183666" y="1998601"/>
            <a:ext cx="1166338" cy="460561"/>
          </a:xfrm>
          <a:prstGeom prst="roundRect">
            <a:avLst/>
          </a:prstGeom>
          <a:solidFill>
            <a:srgbClr val="D2ECB6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Data Ingestion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433" name="Straight Arrow Connector 17432">
            <a:extLst>
              <a:ext uri="{FF2B5EF4-FFF2-40B4-BE49-F238E27FC236}">
                <a16:creationId xmlns:a16="http://schemas.microsoft.com/office/drawing/2014/main" id="{5CF0D48A-BEAD-734B-4ABC-8C50E66A3D7F}"/>
              </a:ext>
            </a:extLst>
          </p:cNvPr>
          <p:cNvCxnSpPr/>
          <p:nvPr/>
        </p:nvCxnSpPr>
        <p:spPr>
          <a:xfrm flipV="1">
            <a:off x="4350004" y="2228881"/>
            <a:ext cx="628650" cy="7833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Rectangle: Rounded Corners 17445">
            <a:extLst>
              <a:ext uri="{FF2B5EF4-FFF2-40B4-BE49-F238E27FC236}">
                <a16:creationId xmlns:a16="http://schemas.microsoft.com/office/drawing/2014/main" id="{547D1C3E-6CBC-2CBF-8BE7-96ED9695ACAA}"/>
              </a:ext>
            </a:extLst>
          </p:cNvPr>
          <p:cNvSpPr/>
          <p:nvPr/>
        </p:nvSpPr>
        <p:spPr>
          <a:xfrm>
            <a:off x="4976101" y="1953850"/>
            <a:ext cx="1284355" cy="560300"/>
          </a:xfrm>
          <a:prstGeom prst="roundRect">
            <a:avLst/>
          </a:prstGeom>
          <a:solidFill>
            <a:srgbClr val="D2ECB6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And Normalization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452" name="Connector: Elbow 17451">
            <a:extLst>
              <a:ext uri="{FF2B5EF4-FFF2-40B4-BE49-F238E27FC236}">
                <a16:creationId xmlns:a16="http://schemas.microsoft.com/office/drawing/2014/main" id="{2D96AB45-CB9F-49AC-387C-E54504134648}"/>
              </a:ext>
            </a:extLst>
          </p:cNvPr>
          <p:cNvCxnSpPr>
            <a:cxnSpLocks/>
            <a:stCxn id="17446" idx="2"/>
          </p:cNvCxnSpPr>
          <p:nvPr/>
        </p:nvCxnSpPr>
        <p:spPr>
          <a:xfrm rot="5400000">
            <a:off x="3127718" y="231993"/>
            <a:ext cx="208404" cy="4772718"/>
          </a:xfrm>
          <a:prstGeom prst="bentConnector2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5" name="Connector: Elbow 17454">
            <a:extLst>
              <a:ext uri="{FF2B5EF4-FFF2-40B4-BE49-F238E27FC236}">
                <a16:creationId xmlns:a16="http://schemas.microsoft.com/office/drawing/2014/main" id="{597352FF-AF65-0EC5-C1DE-BAC2E29B8CEF}"/>
              </a:ext>
            </a:extLst>
          </p:cNvPr>
          <p:cNvCxnSpPr>
            <a:cxnSpLocks/>
          </p:cNvCxnSpPr>
          <p:nvPr/>
        </p:nvCxnSpPr>
        <p:spPr>
          <a:xfrm rot="5400000">
            <a:off x="600494" y="2732769"/>
            <a:ext cx="250804" cy="239330"/>
          </a:xfrm>
          <a:prstGeom prst="bentConnector3">
            <a:avLst>
              <a:gd name="adj1" fmla="val -2083"/>
            </a:avLst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Rectangle: Rounded Corners 17472">
            <a:extLst>
              <a:ext uri="{FF2B5EF4-FFF2-40B4-BE49-F238E27FC236}">
                <a16:creationId xmlns:a16="http://schemas.microsoft.com/office/drawing/2014/main" id="{D2F60848-6473-06F3-63F6-B5B4FDE8C91E}"/>
              </a:ext>
            </a:extLst>
          </p:cNvPr>
          <p:cNvSpPr/>
          <p:nvPr/>
        </p:nvSpPr>
        <p:spPr>
          <a:xfrm>
            <a:off x="33727" y="3018792"/>
            <a:ext cx="3223979" cy="1106288"/>
          </a:xfrm>
          <a:prstGeom prst="roundRect">
            <a:avLst/>
          </a:prstGeom>
          <a:solidFill>
            <a:srgbClr val="E6EDF6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b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</a:t>
            </a:r>
          </a:p>
          <a:p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OCR         YOLOv8+OpenCV    Structured</a:t>
            </a:r>
            <a:b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Data Parsing </a:t>
            </a:r>
            <a:r>
              <a:rPr lang="en-US" sz="12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</a:p>
          <a:p>
            <a:pPr algn="ctr"/>
            <a:r>
              <a:rPr lang="en-US" sz="12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sz="12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2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79" name="Rectangle: Rounded Corners 17478">
            <a:extLst>
              <a:ext uri="{FF2B5EF4-FFF2-40B4-BE49-F238E27FC236}">
                <a16:creationId xmlns:a16="http://schemas.microsoft.com/office/drawing/2014/main" id="{33026B75-6888-60D8-F619-78910403723E}"/>
              </a:ext>
            </a:extLst>
          </p:cNvPr>
          <p:cNvSpPr/>
          <p:nvPr/>
        </p:nvSpPr>
        <p:spPr>
          <a:xfrm>
            <a:off x="74242" y="3489270"/>
            <a:ext cx="979714" cy="5629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Extracts text from Documents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81" name="Rectangle: Rounded Corners 17480">
            <a:extLst>
              <a:ext uri="{FF2B5EF4-FFF2-40B4-BE49-F238E27FC236}">
                <a16:creationId xmlns:a16="http://schemas.microsoft.com/office/drawing/2014/main" id="{DA9B906B-2B4B-3059-9657-3048795F16AF}"/>
              </a:ext>
            </a:extLst>
          </p:cNvPr>
          <p:cNvSpPr/>
          <p:nvPr/>
        </p:nvSpPr>
        <p:spPr>
          <a:xfrm>
            <a:off x="1136713" y="3532066"/>
            <a:ext cx="970204" cy="54240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Extracts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Vehcile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Info 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83" name="Rectangle: Rounded Corners 17482">
            <a:extLst>
              <a:ext uri="{FF2B5EF4-FFF2-40B4-BE49-F238E27FC236}">
                <a16:creationId xmlns:a16="http://schemas.microsoft.com/office/drawing/2014/main" id="{558C1187-FC50-372D-398A-523127FCF973}"/>
              </a:ext>
            </a:extLst>
          </p:cNvPr>
          <p:cNvSpPr/>
          <p:nvPr/>
        </p:nvSpPr>
        <p:spPr>
          <a:xfrm>
            <a:off x="2218362" y="3592294"/>
            <a:ext cx="1007212" cy="45992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CDR , Bank,</a:t>
            </a:r>
          </a:p>
          <a:p>
            <a:pPr algn="ctr"/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data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84" name="TextBox 17483">
            <a:extLst>
              <a:ext uri="{FF2B5EF4-FFF2-40B4-BE49-F238E27FC236}">
                <a16:creationId xmlns:a16="http://schemas.microsoft.com/office/drawing/2014/main" id="{0F0D99E3-F96A-C59A-F33F-A2F86F94CCD0}"/>
              </a:ext>
            </a:extLst>
          </p:cNvPr>
          <p:cNvSpPr txBox="1"/>
          <p:nvPr/>
        </p:nvSpPr>
        <p:spPr>
          <a:xfrm>
            <a:off x="910569" y="2755551"/>
            <a:ext cx="1505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85" name="Rectangle: Rounded Corners 17484">
            <a:extLst>
              <a:ext uri="{FF2B5EF4-FFF2-40B4-BE49-F238E27FC236}">
                <a16:creationId xmlns:a16="http://schemas.microsoft.com/office/drawing/2014/main" id="{BF767B14-400A-F4F7-C4F3-FB1B716B3326}"/>
              </a:ext>
            </a:extLst>
          </p:cNvPr>
          <p:cNvSpPr/>
          <p:nvPr/>
        </p:nvSpPr>
        <p:spPr>
          <a:xfrm>
            <a:off x="3595638" y="3167302"/>
            <a:ext cx="944581" cy="481572"/>
          </a:xfrm>
          <a:prstGeom prst="roundRect">
            <a:avLst/>
          </a:prstGeom>
          <a:solidFill>
            <a:srgbClr val="E6EDF6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Resolution</a:t>
            </a:r>
            <a:endParaRPr lang="en-IN" sz="12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1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486" name="Straight Arrow Connector 17485">
            <a:extLst>
              <a:ext uri="{FF2B5EF4-FFF2-40B4-BE49-F238E27FC236}">
                <a16:creationId xmlns:a16="http://schemas.microsoft.com/office/drawing/2014/main" id="{FF13DB0E-0823-19FC-3925-EE0A8F72024A}"/>
              </a:ext>
            </a:extLst>
          </p:cNvPr>
          <p:cNvCxnSpPr>
            <a:cxnSpLocks/>
          </p:cNvCxnSpPr>
          <p:nvPr/>
        </p:nvCxnSpPr>
        <p:spPr>
          <a:xfrm>
            <a:off x="3308061" y="3393565"/>
            <a:ext cx="302472" cy="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92" name="Rectangle: Rounded Corners 17491">
            <a:extLst>
              <a:ext uri="{FF2B5EF4-FFF2-40B4-BE49-F238E27FC236}">
                <a16:creationId xmlns:a16="http://schemas.microsoft.com/office/drawing/2014/main" id="{82C7DE82-CA6E-2604-288D-744CB53E8F5C}"/>
              </a:ext>
            </a:extLst>
          </p:cNvPr>
          <p:cNvSpPr/>
          <p:nvPr/>
        </p:nvSpPr>
        <p:spPr>
          <a:xfrm>
            <a:off x="4842691" y="3038416"/>
            <a:ext cx="1058636" cy="7233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IN" sz="12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Criminal Network Graph</a:t>
            </a:r>
          </a:p>
          <a:p>
            <a:pPr algn="ctr"/>
            <a:endParaRPr lang="en-US" sz="11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503" name="Straight Arrow Connector 17502">
            <a:extLst>
              <a:ext uri="{FF2B5EF4-FFF2-40B4-BE49-F238E27FC236}">
                <a16:creationId xmlns:a16="http://schemas.microsoft.com/office/drawing/2014/main" id="{9418B46F-D5F3-F24A-E136-32F7C42EB214}"/>
              </a:ext>
            </a:extLst>
          </p:cNvPr>
          <p:cNvCxnSpPr>
            <a:cxnSpLocks/>
          </p:cNvCxnSpPr>
          <p:nvPr/>
        </p:nvCxnSpPr>
        <p:spPr>
          <a:xfrm>
            <a:off x="5901327" y="3400079"/>
            <a:ext cx="330931" cy="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10" name="Rectangle: Rounded Corners 17509">
            <a:extLst>
              <a:ext uri="{FF2B5EF4-FFF2-40B4-BE49-F238E27FC236}">
                <a16:creationId xmlns:a16="http://schemas.microsoft.com/office/drawing/2014/main" id="{4DBF3BA9-BED5-7F51-F587-E50803EC5146}"/>
              </a:ext>
            </a:extLst>
          </p:cNvPr>
          <p:cNvSpPr/>
          <p:nvPr/>
        </p:nvSpPr>
        <p:spPr>
          <a:xfrm>
            <a:off x="6232258" y="2990417"/>
            <a:ext cx="1630694" cy="73911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Community, </a:t>
            </a:r>
            <a:r>
              <a:rPr lang="en-US" sz="1200" b="1" dirty="0" err="1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Anamoly</a:t>
            </a:r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Detection &amp; Multi-Hop Discovery</a:t>
            </a:r>
            <a:endParaRPr lang="en-US" sz="12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518" name="Straight Arrow Connector 17517">
            <a:extLst>
              <a:ext uri="{FF2B5EF4-FFF2-40B4-BE49-F238E27FC236}">
                <a16:creationId xmlns:a16="http://schemas.microsoft.com/office/drawing/2014/main" id="{8E3CFEF5-0DA0-D847-C9BB-B5AF69BDA62E}"/>
              </a:ext>
            </a:extLst>
          </p:cNvPr>
          <p:cNvCxnSpPr>
            <a:cxnSpLocks/>
          </p:cNvCxnSpPr>
          <p:nvPr/>
        </p:nvCxnSpPr>
        <p:spPr>
          <a:xfrm>
            <a:off x="4540219" y="3408088"/>
            <a:ext cx="330931" cy="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21" name="Straight Arrow Connector 17520">
            <a:extLst>
              <a:ext uri="{FF2B5EF4-FFF2-40B4-BE49-F238E27FC236}">
                <a16:creationId xmlns:a16="http://schemas.microsoft.com/office/drawing/2014/main" id="{075146B0-BEDF-10FF-7AC1-1A662037ECC5}"/>
              </a:ext>
            </a:extLst>
          </p:cNvPr>
          <p:cNvCxnSpPr>
            <a:cxnSpLocks/>
          </p:cNvCxnSpPr>
          <p:nvPr/>
        </p:nvCxnSpPr>
        <p:spPr>
          <a:xfrm flipV="1">
            <a:off x="7006721" y="2618352"/>
            <a:ext cx="0" cy="385604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27" name="Rectangle: Rounded Corners 17526">
            <a:extLst>
              <a:ext uri="{FF2B5EF4-FFF2-40B4-BE49-F238E27FC236}">
                <a16:creationId xmlns:a16="http://schemas.microsoft.com/office/drawing/2014/main" id="{FCA2F3BE-7236-81A4-EC0C-FDBD17C6905E}"/>
              </a:ext>
            </a:extLst>
          </p:cNvPr>
          <p:cNvSpPr/>
          <p:nvPr/>
        </p:nvSpPr>
        <p:spPr>
          <a:xfrm>
            <a:off x="6449130" y="1925589"/>
            <a:ext cx="1154835" cy="692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IN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Suspects, Hotspots Discovery </a:t>
            </a:r>
          </a:p>
          <a:p>
            <a:pPr algn="ctr"/>
            <a:endParaRPr lang="en-US" sz="11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533" name="Straight Arrow Connector 17532">
            <a:extLst>
              <a:ext uri="{FF2B5EF4-FFF2-40B4-BE49-F238E27FC236}">
                <a16:creationId xmlns:a16="http://schemas.microsoft.com/office/drawing/2014/main" id="{FBE4D99D-D269-7E7E-E980-4C91E6185A84}"/>
              </a:ext>
            </a:extLst>
          </p:cNvPr>
          <p:cNvCxnSpPr>
            <a:cxnSpLocks/>
          </p:cNvCxnSpPr>
          <p:nvPr/>
        </p:nvCxnSpPr>
        <p:spPr>
          <a:xfrm flipV="1">
            <a:off x="7118178" y="1530844"/>
            <a:ext cx="0" cy="385604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35" name="Rectangle: Rounded Corners 17534">
            <a:extLst>
              <a:ext uri="{FF2B5EF4-FFF2-40B4-BE49-F238E27FC236}">
                <a16:creationId xmlns:a16="http://schemas.microsoft.com/office/drawing/2014/main" id="{B1EE88D7-AFEB-F7BB-6EC3-45944CDD1812}"/>
              </a:ext>
            </a:extLst>
          </p:cNvPr>
          <p:cNvSpPr/>
          <p:nvPr/>
        </p:nvSpPr>
        <p:spPr>
          <a:xfrm>
            <a:off x="6869354" y="1029758"/>
            <a:ext cx="1108160" cy="46387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Investigator Findings</a:t>
            </a:r>
            <a:r>
              <a:rPr lang="en-US" sz="11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Leads,Evidences</a:t>
            </a:r>
            <a:r>
              <a:rPr lang="en-US" sz="11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7539" name="Straight Arrow Connector 17538">
            <a:extLst>
              <a:ext uri="{FF2B5EF4-FFF2-40B4-BE49-F238E27FC236}">
                <a16:creationId xmlns:a16="http://schemas.microsoft.com/office/drawing/2014/main" id="{1185343E-7690-433D-962C-65146B8912D6}"/>
              </a:ext>
            </a:extLst>
          </p:cNvPr>
          <p:cNvCxnSpPr>
            <a:cxnSpLocks/>
          </p:cNvCxnSpPr>
          <p:nvPr/>
        </p:nvCxnSpPr>
        <p:spPr>
          <a:xfrm>
            <a:off x="7964230" y="1270310"/>
            <a:ext cx="330931" cy="0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41" name="Rectangle: Rounded Corners 17540">
            <a:extLst>
              <a:ext uri="{FF2B5EF4-FFF2-40B4-BE49-F238E27FC236}">
                <a16:creationId xmlns:a16="http://schemas.microsoft.com/office/drawing/2014/main" id="{3998E28F-E319-7B70-19DC-9E74D62AD8EB}"/>
              </a:ext>
            </a:extLst>
          </p:cNvPr>
          <p:cNvSpPr/>
          <p:nvPr/>
        </p:nvSpPr>
        <p:spPr>
          <a:xfrm>
            <a:off x="8295161" y="999422"/>
            <a:ext cx="1108160" cy="463877"/>
          </a:xfrm>
          <a:prstGeom prst="roundRect">
            <a:avLst/>
          </a:prstGeom>
          <a:solidFill>
            <a:srgbClr val="FFE89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SHA-26 Hash Generation</a:t>
            </a:r>
          </a:p>
        </p:txBody>
      </p:sp>
      <p:cxnSp>
        <p:nvCxnSpPr>
          <p:cNvPr id="17542" name="Straight Arrow Connector 17541">
            <a:extLst>
              <a:ext uri="{FF2B5EF4-FFF2-40B4-BE49-F238E27FC236}">
                <a16:creationId xmlns:a16="http://schemas.microsoft.com/office/drawing/2014/main" id="{5D2B6C6E-69E8-42A6-795C-9D8326FB4523}"/>
              </a:ext>
            </a:extLst>
          </p:cNvPr>
          <p:cNvCxnSpPr>
            <a:cxnSpLocks/>
          </p:cNvCxnSpPr>
          <p:nvPr/>
        </p:nvCxnSpPr>
        <p:spPr>
          <a:xfrm>
            <a:off x="8849241" y="1486757"/>
            <a:ext cx="0" cy="253327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45" name="Rectangle: Rounded Corners 17544">
            <a:extLst>
              <a:ext uri="{FF2B5EF4-FFF2-40B4-BE49-F238E27FC236}">
                <a16:creationId xmlns:a16="http://schemas.microsoft.com/office/drawing/2014/main" id="{4B6C6CC1-DFB9-FA32-0AD7-DE30806AFC85}"/>
              </a:ext>
            </a:extLst>
          </p:cNvPr>
          <p:cNvSpPr/>
          <p:nvPr/>
        </p:nvSpPr>
        <p:spPr>
          <a:xfrm>
            <a:off x="8270715" y="1736464"/>
            <a:ext cx="1108160" cy="463877"/>
          </a:xfrm>
          <a:prstGeom prst="roundRect">
            <a:avLst/>
          </a:prstGeom>
          <a:solidFill>
            <a:srgbClr val="FFE89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Hyperledger Fabric</a:t>
            </a:r>
          </a:p>
        </p:txBody>
      </p:sp>
      <p:sp>
        <p:nvSpPr>
          <p:cNvPr id="17547" name="Rectangle: Rounded Corners 17546">
            <a:extLst>
              <a:ext uri="{FF2B5EF4-FFF2-40B4-BE49-F238E27FC236}">
                <a16:creationId xmlns:a16="http://schemas.microsoft.com/office/drawing/2014/main" id="{D144DE80-373A-4812-1BA9-1120FC4ECBB8}"/>
              </a:ext>
            </a:extLst>
          </p:cNvPr>
          <p:cNvSpPr/>
          <p:nvPr/>
        </p:nvSpPr>
        <p:spPr>
          <a:xfrm>
            <a:off x="8295161" y="2458015"/>
            <a:ext cx="1108160" cy="532402"/>
          </a:xfrm>
          <a:prstGeom prst="roundRect">
            <a:avLst/>
          </a:prstGeom>
          <a:solidFill>
            <a:srgbClr val="FFE89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Integrity Check</a:t>
            </a:r>
          </a:p>
        </p:txBody>
      </p:sp>
      <p:cxnSp>
        <p:nvCxnSpPr>
          <p:cNvPr id="17548" name="Straight Arrow Connector 17547">
            <a:extLst>
              <a:ext uri="{FF2B5EF4-FFF2-40B4-BE49-F238E27FC236}">
                <a16:creationId xmlns:a16="http://schemas.microsoft.com/office/drawing/2014/main" id="{2249AD8D-7091-2181-FD67-DF4B4E5156B3}"/>
              </a:ext>
            </a:extLst>
          </p:cNvPr>
          <p:cNvCxnSpPr>
            <a:cxnSpLocks/>
          </p:cNvCxnSpPr>
          <p:nvPr/>
        </p:nvCxnSpPr>
        <p:spPr>
          <a:xfrm>
            <a:off x="8849241" y="2206121"/>
            <a:ext cx="0" cy="253327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49" name="Straight Arrow Connector 17548">
            <a:extLst>
              <a:ext uri="{FF2B5EF4-FFF2-40B4-BE49-F238E27FC236}">
                <a16:creationId xmlns:a16="http://schemas.microsoft.com/office/drawing/2014/main" id="{AAE8DC4E-7181-2926-65A6-843B6F8D99C6}"/>
              </a:ext>
            </a:extLst>
          </p:cNvPr>
          <p:cNvCxnSpPr>
            <a:cxnSpLocks/>
            <a:endCxn id="17554" idx="0"/>
          </p:cNvCxnSpPr>
          <p:nvPr/>
        </p:nvCxnSpPr>
        <p:spPr>
          <a:xfrm>
            <a:off x="9173218" y="3031709"/>
            <a:ext cx="5089" cy="381853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54" name="Rectangle: Rounded Corners 17553">
            <a:extLst>
              <a:ext uri="{FF2B5EF4-FFF2-40B4-BE49-F238E27FC236}">
                <a16:creationId xmlns:a16="http://schemas.microsoft.com/office/drawing/2014/main" id="{C750A13C-C708-2A61-0972-E102A429C7BF}"/>
              </a:ext>
            </a:extLst>
          </p:cNvPr>
          <p:cNvSpPr/>
          <p:nvPr/>
        </p:nvSpPr>
        <p:spPr>
          <a:xfrm>
            <a:off x="8624227" y="3413562"/>
            <a:ext cx="1108160" cy="463877"/>
          </a:xfrm>
          <a:prstGeom prst="roundRect">
            <a:avLst/>
          </a:prstGeom>
          <a:solidFill>
            <a:srgbClr val="84DE82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&amp; Trusted </a:t>
            </a:r>
          </a:p>
        </p:txBody>
      </p:sp>
      <p:sp>
        <p:nvSpPr>
          <p:cNvPr id="17556" name="Rectangle 17555">
            <a:extLst>
              <a:ext uri="{FF2B5EF4-FFF2-40B4-BE49-F238E27FC236}">
                <a16:creationId xmlns:a16="http://schemas.microsoft.com/office/drawing/2014/main" id="{BD6A1233-6A6F-EBB3-5CF2-28CEB61B288C}"/>
              </a:ext>
            </a:extLst>
          </p:cNvPr>
          <p:cNvSpPr/>
          <p:nvPr/>
        </p:nvSpPr>
        <p:spPr>
          <a:xfrm rot="16200000">
            <a:off x="9109092" y="3135248"/>
            <a:ext cx="388814" cy="127819"/>
          </a:xfrm>
          <a:prstGeom prst="rect">
            <a:avLst/>
          </a:prstGeom>
          <a:solidFill>
            <a:srgbClr val="84DE82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558" name="Straight Arrow Connector 17557">
            <a:extLst>
              <a:ext uri="{FF2B5EF4-FFF2-40B4-BE49-F238E27FC236}">
                <a16:creationId xmlns:a16="http://schemas.microsoft.com/office/drawing/2014/main" id="{4B7E89B2-C495-FCA6-255C-06935C1EDBC9}"/>
              </a:ext>
            </a:extLst>
          </p:cNvPr>
          <p:cNvCxnSpPr>
            <a:cxnSpLocks/>
          </p:cNvCxnSpPr>
          <p:nvPr/>
        </p:nvCxnSpPr>
        <p:spPr>
          <a:xfrm flipH="1">
            <a:off x="8572057" y="3009989"/>
            <a:ext cx="10850" cy="916425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66" name="Rectangle: Rounded Corners 17565">
            <a:extLst>
              <a:ext uri="{FF2B5EF4-FFF2-40B4-BE49-F238E27FC236}">
                <a16:creationId xmlns:a16="http://schemas.microsoft.com/office/drawing/2014/main" id="{3C34DFD4-8C67-86D7-C0E1-0875B6F9B4AC}"/>
              </a:ext>
            </a:extLst>
          </p:cNvPr>
          <p:cNvSpPr/>
          <p:nvPr/>
        </p:nvSpPr>
        <p:spPr>
          <a:xfrm>
            <a:off x="8059506" y="3917812"/>
            <a:ext cx="1108160" cy="463877"/>
          </a:xfrm>
          <a:prstGeom prst="roundRect">
            <a:avLst/>
          </a:prstGeom>
          <a:solidFill>
            <a:srgbClr val="FF000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</a:t>
            </a:r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Tampered Alert </a:t>
            </a:r>
          </a:p>
        </p:txBody>
      </p:sp>
      <p:sp>
        <p:nvSpPr>
          <p:cNvPr id="17571" name="Rectangle 17570">
            <a:extLst>
              <a:ext uri="{FF2B5EF4-FFF2-40B4-BE49-F238E27FC236}">
                <a16:creationId xmlns:a16="http://schemas.microsoft.com/office/drawing/2014/main" id="{8304E2FD-5B79-BE9E-1312-4C2C6F553BB5}"/>
              </a:ext>
            </a:extLst>
          </p:cNvPr>
          <p:cNvSpPr/>
          <p:nvPr/>
        </p:nvSpPr>
        <p:spPr>
          <a:xfrm rot="16200000">
            <a:off x="8182084" y="3495875"/>
            <a:ext cx="463877" cy="204319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577" name="Straight Connector 17576">
            <a:extLst>
              <a:ext uri="{FF2B5EF4-FFF2-40B4-BE49-F238E27FC236}">
                <a16:creationId xmlns:a16="http://schemas.microsoft.com/office/drawing/2014/main" id="{539D572C-DB7D-6442-F937-403969E192F7}"/>
              </a:ext>
            </a:extLst>
          </p:cNvPr>
          <p:cNvCxnSpPr>
            <a:cxnSpLocks/>
          </p:cNvCxnSpPr>
          <p:nvPr/>
        </p:nvCxnSpPr>
        <p:spPr>
          <a:xfrm>
            <a:off x="8419175" y="3003956"/>
            <a:ext cx="0" cy="227608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79" name="Straight Connector 17578">
            <a:extLst>
              <a:ext uri="{FF2B5EF4-FFF2-40B4-BE49-F238E27FC236}">
                <a16:creationId xmlns:a16="http://schemas.microsoft.com/office/drawing/2014/main" id="{EF2326FB-8969-92BF-F5AD-E4B9AF5B1030}"/>
              </a:ext>
            </a:extLst>
          </p:cNvPr>
          <p:cNvCxnSpPr>
            <a:cxnSpLocks/>
          </p:cNvCxnSpPr>
          <p:nvPr/>
        </p:nvCxnSpPr>
        <p:spPr>
          <a:xfrm>
            <a:off x="8203240" y="3244220"/>
            <a:ext cx="215935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99" name="TextBox 17598">
            <a:extLst>
              <a:ext uri="{FF2B5EF4-FFF2-40B4-BE49-F238E27FC236}">
                <a16:creationId xmlns:a16="http://schemas.microsoft.com/office/drawing/2014/main" id="{C7AABC52-2CEF-D7F7-6C34-56F6B27E4CA8}"/>
              </a:ext>
            </a:extLst>
          </p:cNvPr>
          <p:cNvSpPr txBox="1"/>
          <p:nvPr/>
        </p:nvSpPr>
        <p:spPr>
          <a:xfrm rot="16200000">
            <a:off x="6999701" y="2259171"/>
            <a:ext cx="2112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feedback loop</a:t>
            </a:r>
            <a:endParaRPr lang="en-IN" sz="12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03" name="Straight Connector 17602">
            <a:extLst>
              <a:ext uri="{FF2B5EF4-FFF2-40B4-BE49-F238E27FC236}">
                <a16:creationId xmlns:a16="http://schemas.microsoft.com/office/drawing/2014/main" id="{DEDFC39C-26F8-4A7B-1ABB-EA91C8672D7C}"/>
              </a:ext>
            </a:extLst>
          </p:cNvPr>
          <p:cNvCxnSpPr>
            <a:cxnSpLocks/>
          </p:cNvCxnSpPr>
          <p:nvPr/>
        </p:nvCxnSpPr>
        <p:spPr>
          <a:xfrm flipH="1">
            <a:off x="8194643" y="1673485"/>
            <a:ext cx="15583" cy="1574134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12" name="Straight Connector 17611">
            <a:extLst>
              <a:ext uri="{FF2B5EF4-FFF2-40B4-BE49-F238E27FC236}">
                <a16:creationId xmlns:a16="http://schemas.microsoft.com/office/drawing/2014/main" id="{A4195FD7-39E5-96C3-FDA7-96F77D3B8A9F}"/>
              </a:ext>
            </a:extLst>
          </p:cNvPr>
          <p:cNvCxnSpPr>
            <a:cxnSpLocks/>
          </p:cNvCxnSpPr>
          <p:nvPr/>
        </p:nvCxnSpPr>
        <p:spPr>
          <a:xfrm>
            <a:off x="7697460" y="1655991"/>
            <a:ext cx="53354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19" name="Straight Arrow Connector 17618">
            <a:extLst>
              <a:ext uri="{FF2B5EF4-FFF2-40B4-BE49-F238E27FC236}">
                <a16:creationId xmlns:a16="http://schemas.microsoft.com/office/drawing/2014/main" id="{5FCF3C08-80D8-C255-3EB2-6296EE65C8F9}"/>
              </a:ext>
            </a:extLst>
          </p:cNvPr>
          <p:cNvCxnSpPr>
            <a:cxnSpLocks/>
          </p:cNvCxnSpPr>
          <p:nvPr/>
        </p:nvCxnSpPr>
        <p:spPr>
          <a:xfrm flipV="1">
            <a:off x="7697460" y="1484993"/>
            <a:ext cx="0" cy="170998"/>
          </a:xfrm>
          <a:prstGeom prst="straightConnector1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23" name="TextBox 17622">
            <a:extLst>
              <a:ext uri="{FF2B5EF4-FFF2-40B4-BE49-F238E27FC236}">
                <a16:creationId xmlns:a16="http://schemas.microsoft.com/office/drawing/2014/main" id="{ABDFE117-35D2-2080-3200-5083820127A5}"/>
              </a:ext>
            </a:extLst>
          </p:cNvPr>
          <p:cNvSpPr txBox="1"/>
          <p:nvPr/>
        </p:nvSpPr>
        <p:spPr>
          <a:xfrm flipH="1">
            <a:off x="10232834" y="664380"/>
            <a:ext cx="1407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STEPS</a:t>
            </a:r>
          </a:p>
        </p:txBody>
      </p:sp>
      <p:sp>
        <p:nvSpPr>
          <p:cNvPr id="17624" name="TextBox 17623">
            <a:extLst>
              <a:ext uri="{FF2B5EF4-FFF2-40B4-BE49-F238E27FC236}">
                <a16:creationId xmlns:a16="http://schemas.microsoft.com/office/drawing/2014/main" id="{B995278A-AC0E-ACF5-A4BD-D45D661F5462}"/>
              </a:ext>
            </a:extLst>
          </p:cNvPr>
          <p:cNvSpPr txBox="1"/>
          <p:nvPr/>
        </p:nvSpPr>
        <p:spPr>
          <a:xfrm>
            <a:off x="9403321" y="900531"/>
            <a:ext cx="2717279" cy="580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Data Ingestion: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and extracts data from multiple sources like FIR,CDR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CCTV, Location, Financial ,other records.</a:t>
            </a:r>
          </a:p>
          <a:p>
            <a:endParaRPr lang="en-IN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&amp; Normalization :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validated, standardized and de-duplicated data to create reliable investigation records</a:t>
            </a:r>
          </a:p>
          <a:p>
            <a:endParaRPr lang="en-IN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 : OCR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text from uploaded documents(FIR),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extracts vehicle and finds number of persons from CCTV footage then vehicle information then info is verified in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records.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Resolution :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Unifies duplicate entities(Identify and link the same person, phone 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or vehicle across different records). 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•Network Graph  :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 relationship graph connecting entities to reveal links, clusters and criminal networks.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•Graph Analysis :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suspects(High connections entity), communities, anomalies and multi-hop connections(hidden relations), Hotspots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location and timeline . </a:t>
            </a:r>
            <a:b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•SHA-256 Hash generation &amp; Audit :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hashes for evidences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maintain an immutable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audit trail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keeping sensitive evidence off-chain.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10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Integrity Check :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evidence is accessed,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current hash is compared with the blockchain-recorded hash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&amp; Trusted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evidence or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Tampering Alerts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00" b="1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30" name="TextBox 17629">
            <a:extLst>
              <a:ext uri="{FF2B5EF4-FFF2-40B4-BE49-F238E27FC236}">
                <a16:creationId xmlns:a16="http://schemas.microsoft.com/office/drawing/2014/main" id="{10C2F818-0B6B-5214-3E42-650DD20B2E04}"/>
              </a:ext>
            </a:extLst>
          </p:cNvPr>
          <p:cNvSpPr txBox="1"/>
          <p:nvPr/>
        </p:nvSpPr>
        <p:spPr>
          <a:xfrm>
            <a:off x="5853934" y="2698792"/>
            <a:ext cx="1402270" cy="274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Analysis</a:t>
            </a:r>
            <a:endParaRPr lang="en-IN" sz="12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34" name="Rectangle: Rounded Corners 17633">
            <a:extLst>
              <a:ext uri="{FF2B5EF4-FFF2-40B4-BE49-F238E27FC236}">
                <a16:creationId xmlns:a16="http://schemas.microsoft.com/office/drawing/2014/main" id="{592D3C08-6D34-A29A-7451-C75EA38F3C52}"/>
              </a:ext>
            </a:extLst>
          </p:cNvPr>
          <p:cNvSpPr/>
          <p:nvPr/>
        </p:nvSpPr>
        <p:spPr>
          <a:xfrm>
            <a:off x="33727" y="4474271"/>
            <a:ext cx="1465635" cy="2178093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38" name="Straight Connector 17637">
            <a:extLst>
              <a:ext uri="{FF2B5EF4-FFF2-40B4-BE49-F238E27FC236}">
                <a16:creationId xmlns:a16="http://schemas.microsoft.com/office/drawing/2014/main" id="{EDFF7AFA-C545-2BF7-82FB-368820B3939E}"/>
              </a:ext>
            </a:extLst>
          </p:cNvPr>
          <p:cNvCxnSpPr/>
          <p:nvPr/>
        </p:nvCxnSpPr>
        <p:spPr>
          <a:xfrm>
            <a:off x="74242" y="4864963"/>
            <a:ext cx="13266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39" name="Rectangle: Rounded Corners 17638">
            <a:extLst>
              <a:ext uri="{FF2B5EF4-FFF2-40B4-BE49-F238E27FC236}">
                <a16:creationId xmlns:a16="http://schemas.microsoft.com/office/drawing/2014/main" id="{55651C89-B3A1-FB26-F4A6-FFECAA36BD61}"/>
              </a:ext>
            </a:extLst>
          </p:cNvPr>
          <p:cNvSpPr/>
          <p:nvPr/>
        </p:nvSpPr>
        <p:spPr>
          <a:xfrm>
            <a:off x="27432" y="4474333"/>
            <a:ext cx="1471930" cy="43647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Frontend(UI)</a:t>
            </a:r>
          </a:p>
        </p:txBody>
      </p:sp>
      <p:sp>
        <p:nvSpPr>
          <p:cNvPr id="17649" name="TextBox 17648">
            <a:extLst>
              <a:ext uri="{FF2B5EF4-FFF2-40B4-BE49-F238E27FC236}">
                <a16:creationId xmlns:a16="http://schemas.microsoft.com/office/drawing/2014/main" id="{DB5A2A5A-CBD7-2AAB-B977-70D75F9B53AC}"/>
              </a:ext>
            </a:extLst>
          </p:cNvPr>
          <p:cNvSpPr txBox="1"/>
          <p:nvPr/>
        </p:nvSpPr>
        <p:spPr>
          <a:xfrm>
            <a:off x="-33686" y="4876908"/>
            <a:ext cx="17279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+       Vite +  TypeScript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Interactive Investigation dashboard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    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Responsive and secure UI design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Flow + Recharts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Network graphs and analytical visualizations</a:t>
            </a:r>
          </a:p>
        </p:txBody>
      </p:sp>
      <p:sp>
        <p:nvSpPr>
          <p:cNvPr id="17652" name="Rectangle: Rounded Corners 17651">
            <a:extLst>
              <a:ext uri="{FF2B5EF4-FFF2-40B4-BE49-F238E27FC236}">
                <a16:creationId xmlns:a16="http://schemas.microsoft.com/office/drawing/2014/main" id="{5AC99EED-0030-BEBD-7F6E-9EE029A69699}"/>
              </a:ext>
            </a:extLst>
          </p:cNvPr>
          <p:cNvSpPr/>
          <p:nvPr/>
        </p:nvSpPr>
        <p:spPr>
          <a:xfrm>
            <a:off x="1653466" y="4517035"/>
            <a:ext cx="1554568" cy="2178093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54" name="Rectangle: Rounded Corners 17653">
            <a:extLst>
              <a:ext uri="{FF2B5EF4-FFF2-40B4-BE49-F238E27FC236}">
                <a16:creationId xmlns:a16="http://schemas.microsoft.com/office/drawing/2014/main" id="{3D5A7B35-9159-9408-5B98-8779FD2B22B8}"/>
              </a:ext>
            </a:extLst>
          </p:cNvPr>
          <p:cNvSpPr/>
          <p:nvPr/>
        </p:nvSpPr>
        <p:spPr>
          <a:xfrm>
            <a:off x="1649350" y="4469528"/>
            <a:ext cx="1568223" cy="417351"/>
          </a:xfrm>
          <a:prstGeom prst="roundRect">
            <a:avLst/>
          </a:prstGeom>
          <a:solidFill>
            <a:srgbClr val="FFFFCC"/>
          </a:solidFill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55" name="TextBox 17654">
            <a:extLst>
              <a:ext uri="{FF2B5EF4-FFF2-40B4-BE49-F238E27FC236}">
                <a16:creationId xmlns:a16="http://schemas.microsoft.com/office/drawing/2014/main" id="{182780F7-2FBB-4BB5-C9D8-4EFD39741A3C}"/>
              </a:ext>
            </a:extLst>
          </p:cNvPr>
          <p:cNvSpPr txBox="1"/>
          <p:nvPr/>
        </p:nvSpPr>
        <p:spPr>
          <a:xfrm>
            <a:off x="1577600" y="4876908"/>
            <a:ext cx="187293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    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REST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  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Data validation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   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RESTAPIs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Secure communication between frontend and backend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Backend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server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58" name="Rectangle: Rounded Corners 17657">
            <a:extLst>
              <a:ext uri="{FF2B5EF4-FFF2-40B4-BE49-F238E27FC236}">
                <a16:creationId xmlns:a16="http://schemas.microsoft.com/office/drawing/2014/main" id="{67FDB6C8-9B49-8EB0-6945-A1548252046C}"/>
              </a:ext>
            </a:extLst>
          </p:cNvPr>
          <p:cNvSpPr/>
          <p:nvPr/>
        </p:nvSpPr>
        <p:spPr>
          <a:xfrm>
            <a:off x="3331529" y="4470484"/>
            <a:ext cx="1644571" cy="2282192"/>
          </a:xfrm>
          <a:prstGeom prst="roundRect">
            <a:avLst/>
          </a:prstGeom>
          <a:noFill/>
          <a:ln w="9525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60" name="Rectangle: Rounded Corners 17659">
            <a:extLst>
              <a:ext uri="{FF2B5EF4-FFF2-40B4-BE49-F238E27FC236}">
                <a16:creationId xmlns:a16="http://schemas.microsoft.com/office/drawing/2014/main" id="{F28F8787-0166-2DF0-6C7C-9394996E69E3}"/>
              </a:ext>
            </a:extLst>
          </p:cNvPr>
          <p:cNvSpPr/>
          <p:nvPr/>
        </p:nvSpPr>
        <p:spPr>
          <a:xfrm>
            <a:off x="3293166" y="4459047"/>
            <a:ext cx="1718468" cy="313460"/>
          </a:xfrm>
          <a:prstGeom prst="roundRect">
            <a:avLst>
              <a:gd name="adj" fmla="val 48875"/>
            </a:avLst>
          </a:prstGeom>
          <a:ln>
            <a:solidFill>
              <a:srgbClr val="8368A4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61" name="TextBox 17660">
            <a:extLst>
              <a:ext uri="{FF2B5EF4-FFF2-40B4-BE49-F238E27FC236}">
                <a16:creationId xmlns:a16="http://schemas.microsoft.com/office/drawing/2014/main" id="{E854658B-F643-F44F-2C3E-53BD8D61DAB6}"/>
              </a:ext>
            </a:extLst>
          </p:cNvPr>
          <p:cNvSpPr txBox="1"/>
          <p:nvPr/>
        </p:nvSpPr>
        <p:spPr>
          <a:xfrm>
            <a:off x="3257706" y="4720603"/>
            <a:ext cx="190468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-Vehicle/person detection from CCTV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+ </a:t>
            </a:r>
            <a:r>
              <a:rPr lang="en-I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Image/video processing,  OCR-based text extraction.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    </a:t>
            </a:r>
            <a:r>
              <a:rPr lang="en-I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Louvain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Criminal-network &amp;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analysis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/ NER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Entity and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relationship extraction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Anomaly</a:t>
            </a:r>
          </a:p>
          <a:p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       /risk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17663" name="Rectangle: Rounded Corners 17662">
            <a:extLst>
              <a:ext uri="{FF2B5EF4-FFF2-40B4-BE49-F238E27FC236}">
                <a16:creationId xmlns:a16="http://schemas.microsoft.com/office/drawing/2014/main" id="{0AB6EB78-D3C8-16C1-5233-6FA813D5DB91}"/>
              </a:ext>
            </a:extLst>
          </p:cNvPr>
          <p:cNvSpPr/>
          <p:nvPr/>
        </p:nvSpPr>
        <p:spPr>
          <a:xfrm>
            <a:off x="5123749" y="4495298"/>
            <a:ext cx="1711854" cy="222618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65" name="Rectangle: Rounded Corners 17664">
            <a:extLst>
              <a:ext uri="{FF2B5EF4-FFF2-40B4-BE49-F238E27FC236}">
                <a16:creationId xmlns:a16="http://schemas.microsoft.com/office/drawing/2014/main" id="{640FA2D6-65E3-351F-8853-FA922CF91AC8}"/>
              </a:ext>
            </a:extLst>
          </p:cNvPr>
          <p:cNvSpPr/>
          <p:nvPr/>
        </p:nvSpPr>
        <p:spPr>
          <a:xfrm>
            <a:off x="5119633" y="4452117"/>
            <a:ext cx="1711854" cy="40484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Security</a:t>
            </a:r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68" name="TextBox 17667">
            <a:extLst>
              <a:ext uri="{FF2B5EF4-FFF2-40B4-BE49-F238E27FC236}">
                <a16:creationId xmlns:a16="http://schemas.microsoft.com/office/drawing/2014/main" id="{9F133D9F-4A57-4895-412D-2CE9040E6164}"/>
              </a:ext>
            </a:extLst>
          </p:cNvPr>
          <p:cNvSpPr txBox="1"/>
          <p:nvPr/>
        </p:nvSpPr>
        <p:spPr>
          <a:xfrm>
            <a:off x="5061232" y="4796226"/>
            <a:ext cx="1904686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    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Case &amp;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investigation data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  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/ OAuth 2.0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Secure authentication.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Argon2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Securely hashes passwords.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Logging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 every sensitive administrative/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Investigation action.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–CDR, FIR,RTO CCTV,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financial,location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</p:txBody>
      </p:sp>
      <p:sp>
        <p:nvSpPr>
          <p:cNvPr id="17670" name="Rectangle: Rounded Corners 17669">
            <a:extLst>
              <a:ext uri="{FF2B5EF4-FFF2-40B4-BE49-F238E27FC236}">
                <a16:creationId xmlns:a16="http://schemas.microsoft.com/office/drawing/2014/main" id="{989E0C4E-9018-396D-7991-7090674DAE28}"/>
              </a:ext>
            </a:extLst>
          </p:cNvPr>
          <p:cNvSpPr/>
          <p:nvPr/>
        </p:nvSpPr>
        <p:spPr>
          <a:xfrm>
            <a:off x="6965918" y="4469528"/>
            <a:ext cx="2201748" cy="2178093"/>
          </a:xfrm>
          <a:prstGeom prst="roundRect">
            <a:avLst/>
          </a:prstGeom>
          <a:noFill/>
          <a:ln w="9525" cap="flat" cmpd="sng" algn="ctr">
            <a:solidFill>
              <a:srgbClr val="B4DE8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72" name="Rectangle: Rounded Corners 17671">
            <a:extLst>
              <a:ext uri="{FF2B5EF4-FFF2-40B4-BE49-F238E27FC236}">
                <a16:creationId xmlns:a16="http://schemas.microsoft.com/office/drawing/2014/main" id="{BFC53ED5-724B-3009-F19D-9E3E3F2BBBEB}"/>
              </a:ext>
            </a:extLst>
          </p:cNvPr>
          <p:cNvSpPr/>
          <p:nvPr/>
        </p:nvSpPr>
        <p:spPr>
          <a:xfrm>
            <a:off x="6975020" y="4444199"/>
            <a:ext cx="2192646" cy="473352"/>
          </a:xfrm>
          <a:prstGeom prst="roundRect">
            <a:avLst/>
          </a:prstGeom>
          <a:solidFill>
            <a:srgbClr val="B4DE86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&amp; Integrity, Deployment</a:t>
            </a:r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73" name="TextBox 17672">
            <a:extLst>
              <a:ext uri="{FF2B5EF4-FFF2-40B4-BE49-F238E27FC236}">
                <a16:creationId xmlns:a16="http://schemas.microsoft.com/office/drawing/2014/main" id="{2C2F6A84-F623-CF33-EBF5-8690DB1003EC}"/>
              </a:ext>
            </a:extLst>
          </p:cNvPr>
          <p:cNvSpPr txBox="1"/>
          <p:nvPr/>
        </p:nvSpPr>
        <p:spPr>
          <a:xfrm>
            <a:off x="6966105" y="4901155"/>
            <a:ext cx="232718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   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Hyperledger Fabric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Permissioned evidence ledger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Hashing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 Generates a digital fingerprint of evidence to verify integrity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Off-chain Storage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Sensitive evidence remains outside blockchain.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Git/GitHub+ Docker: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Reproducible deployment &amp; version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control.</a:t>
            </a:r>
          </a:p>
        </p:txBody>
      </p:sp>
      <p:sp>
        <p:nvSpPr>
          <p:cNvPr id="17674" name="TextBox 17673">
            <a:extLst>
              <a:ext uri="{FF2B5EF4-FFF2-40B4-BE49-F238E27FC236}">
                <a16:creationId xmlns:a16="http://schemas.microsoft.com/office/drawing/2014/main" id="{87EEAE4B-C016-E3F3-FE90-5456D78B804F}"/>
              </a:ext>
            </a:extLst>
          </p:cNvPr>
          <p:cNvSpPr txBox="1"/>
          <p:nvPr/>
        </p:nvSpPr>
        <p:spPr>
          <a:xfrm>
            <a:off x="503102" y="739920"/>
            <a:ext cx="2285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Flowchart</a:t>
            </a:r>
          </a:p>
        </p:txBody>
      </p:sp>
      <p:sp>
        <p:nvSpPr>
          <p:cNvPr id="17675" name="TextBox 17674">
            <a:extLst>
              <a:ext uri="{FF2B5EF4-FFF2-40B4-BE49-F238E27FC236}">
                <a16:creationId xmlns:a16="http://schemas.microsoft.com/office/drawing/2014/main" id="{AA11BD68-FC76-4A92-7714-3EEA39CBDAB4}"/>
              </a:ext>
            </a:extLst>
          </p:cNvPr>
          <p:cNvSpPr txBox="1"/>
          <p:nvPr/>
        </p:nvSpPr>
        <p:spPr>
          <a:xfrm>
            <a:off x="68517" y="4167386"/>
            <a:ext cx="2535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pic>
        <p:nvPicPr>
          <p:cNvPr id="17676" name="Picture 17675">
            <a:extLst>
              <a:ext uri="{FF2B5EF4-FFF2-40B4-BE49-F238E27FC236}">
                <a16:creationId xmlns:a16="http://schemas.microsoft.com/office/drawing/2014/main" id="{8182EB36-CE12-32E5-7485-60AD859C9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13" y="4934386"/>
            <a:ext cx="192579" cy="233386"/>
          </a:xfrm>
          <a:prstGeom prst="rect">
            <a:avLst/>
          </a:prstGeom>
        </p:spPr>
      </p:pic>
      <p:pic>
        <p:nvPicPr>
          <p:cNvPr id="17677" name="Picture 17676" descr="Fastapi Icon &amp; Logo | Dashboard Icons &amp; Logos">
            <a:extLst>
              <a:ext uri="{FF2B5EF4-FFF2-40B4-BE49-F238E27FC236}">
                <a16:creationId xmlns:a16="http://schemas.microsoft.com/office/drawing/2014/main" id="{FD13A604-B5EE-DBEE-E46D-A1845EB89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031" y="4924291"/>
            <a:ext cx="163731" cy="161557"/>
          </a:xfrm>
          <a:prstGeom prst="rect">
            <a:avLst/>
          </a:prstGeom>
        </p:spPr>
      </p:pic>
      <p:pic>
        <p:nvPicPr>
          <p:cNvPr id="17679" name="Picture 17678">
            <a:extLst>
              <a:ext uri="{FF2B5EF4-FFF2-40B4-BE49-F238E27FC236}">
                <a16:creationId xmlns:a16="http://schemas.microsoft.com/office/drawing/2014/main" id="{B54CA081-EA98-AA21-C6D8-142B33F7E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94" y="4930087"/>
            <a:ext cx="197822" cy="197822"/>
          </a:xfrm>
          <a:prstGeom prst="rect">
            <a:avLst/>
          </a:prstGeom>
        </p:spPr>
      </p:pic>
      <p:pic>
        <p:nvPicPr>
          <p:cNvPr id="17680" name="Picture 17679" descr="Vite.js SVG and transparent PNG icons | TechIcons">
            <a:extLst>
              <a:ext uri="{FF2B5EF4-FFF2-40B4-BE49-F238E27FC236}">
                <a16:creationId xmlns:a16="http://schemas.microsoft.com/office/drawing/2014/main" id="{B46970D2-9823-376E-6546-634372AA08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480" y="4952456"/>
            <a:ext cx="195146" cy="195146"/>
          </a:xfrm>
          <a:prstGeom prst="rect">
            <a:avLst/>
          </a:prstGeom>
        </p:spPr>
      </p:pic>
      <p:pic>
        <p:nvPicPr>
          <p:cNvPr id="17681" name="Picture 17680" descr="File:Tailwind CSS Logo.svg - Wikimedia Commons">
            <a:extLst>
              <a:ext uri="{FF2B5EF4-FFF2-40B4-BE49-F238E27FC236}">
                <a16:creationId xmlns:a16="http://schemas.microsoft.com/office/drawing/2014/main" id="{3B30B355-D72B-2AE1-3B11-1AEE2B540E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124" y="5463728"/>
            <a:ext cx="325161" cy="198907"/>
          </a:xfrm>
          <a:prstGeom prst="rect">
            <a:avLst/>
          </a:prstGeom>
        </p:spPr>
      </p:pic>
      <p:pic>
        <p:nvPicPr>
          <p:cNvPr id="17682" name="Picture 17681" descr="Sharp solid icon of a triangular frame and inner arrow. Used for Python data validation and developer tools.">
            <a:extLst>
              <a:ext uri="{FF2B5EF4-FFF2-40B4-BE49-F238E27FC236}">
                <a16:creationId xmlns:a16="http://schemas.microsoft.com/office/drawing/2014/main" id="{D525249F-165B-BAFA-F6B0-17F605E5D8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8061" y="5429663"/>
            <a:ext cx="251629" cy="251629"/>
          </a:xfrm>
          <a:prstGeom prst="rect">
            <a:avLst/>
          </a:prstGeom>
        </p:spPr>
      </p:pic>
      <p:pic>
        <p:nvPicPr>
          <p:cNvPr id="17684" name="Picture 17683" descr="REST API logo on white background | Rest api python, Rest api learning  resources, Rest api">
            <a:extLst>
              <a:ext uri="{FF2B5EF4-FFF2-40B4-BE49-F238E27FC236}">
                <a16:creationId xmlns:a16="http://schemas.microsoft.com/office/drawing/2014/main" id="{91487D6E-8949-354E-D9F6-A29E94E795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0306" y="5819200"/>
            <a:ext cx="304765" cy="234690"/>
          </a:xfrm>
          <a:prstGeom prst="rect">
            <a:avLst/>
          </a:prstGeom>
        </p:spPr>
      </p:pic>
      <p:pic>
        <p:nvPicPr>
          <p:cNvPr id="17687" name="Picture 17686" descr="NetworkX · GitHub">
            <a:extLst>
              <a:ext uri="{FF2B5EF4-FFF2-40B4-BE49-F238E27FC236}">
                <a16:creationId xmlns:a16="http://schemas.microsoft.com/office/drawing/2014/main" id="{8FD895A9-B26C-192D-8119-60A3BF4FBD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69919" y="5582680"/>
            <a:ext cx="213544" cy="213544"/>
          </a:xfrm>
          <a:prstGeom prst="rect">
            <a:avLst/>
          </a:prstGeom>
        </p:spPr>
      </p:pic>
      <p:pic>
        <p:nvPicPr>
          <p:cNvPr id="17688" name="Picture 17687" descr="Scikit Learn Logo Png, Transparent Png - vhv">
            <a:extLst>
              <a:ext uri="{FF2B5EF4-FFF2-40B4-BE49-F238E27FC236}">
                <a16:creationId xmlns:a16="http://schemas.microsoft.com/office/drawing/2014/main" id="{B7DCDC02-5881-0746-3CC2-4E3B1EA9FB8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4684" y="6441555"/>
            <a:ext cx="184015" cy="172893"/>
          </a:xfrm>
          <a:prstGeom prst="rect">
            <a:avLst/>
          </a:prstGeom>
        </p:spPr>
      </p:pic>
      <p:pic>
        <p:nvPicPr>
          <p:cNvPr id="17691" name="Picture 17690" descr="JWT Logo PNG, Icon Transparent Free Download">
            <a:extLst>
              <a:ext uri="{FF2B5EF4-FFF2-40B4-BE49-F238E27FC236}">
                <a16:creationId xmlns:a16="http://schemas.microsoft.com/office/drawing/2014/main" id="{4B5670F4-2B73-E17E-6AAA-3A0DE5E8A4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49912" y="5150270"/>
            <a:ext cx="195559" cy="195559"/>
          </a:xfrm>
          <a:prstGeom prst="rect">
            <a:avLst/>
          </a:prstGeom>
        </p:spPr>
      </p:pic>
      <p:pic>
        <p:nvPicPr>
          <p:cNvPr id="17692" name="Picture 17691" descr="Datasets — Cancer Genomics Cloud">
            <a:extLst>
              <a:ext uri="{FF2B5EF4-FFF2-40B4-BE49-F238E27FC236}">
                <a16:creationId xmlns:a16="http://schemas.microsoft.com/office/drawing/2014/main" id="{A2D42B9B-C7F2-31FF-C86D-95F39A4411D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36099" y="6324474"/>
            <a:ext cx="219894" cy="219894"/>
          </a:xfrm>
          <a:prstGeom prst="rect">
            <a:avLst/>
          </a:prstGeom>
        </p:spPr>
      </p:pic>
      <p:pic>
        <p:nvPicPr>
          <p:cNvPr id="17693" name="Picture 17692" descr="Hyperledger Fabric · GitHub">
            <a:extLst>
              <a:ext uri="{FF2B5EF4-FFF2-40B4-BE49-F238E27FC236}">
                <a16:creationId xmlns:a16="http://schemas.microsoft.com/office/drawing/2014/main" id="{C0E87F65-207E-0A83-B87A-358334834B0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48284" y="4943254"/>
            <a:ext cx="241398" cy="241398"/>
          </a:xfrm>
          <a:prstGeom prst="rect">
            <a:avLst/>
          </a:prstGeom>
        </p:spPr>
      </p:pic>
      <p:pic>
        <p:nvPicPr>
          <p:cNvPr id="17694" name="Picture 17693" descr="Sha 256 Glyph Icon 45693759 Vector Art at Vecteezy">
            <a:extLst>
              <a:ext uri="{FF2B5EF4-FFF2-40B4-BE49-F238E27FC236}">
                <a16:creationId xmlns:a16="http://schemas.microsoft.com/office/drawing/2014/main" id="{9E93FBE1-774B-018A-6121-61000115043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8178" y="5274564"/>
            <a:ext cx="207938" cy="207938"/>
          </a:xfrm>
          <a:prstGeom prst="rect">
            <a:avLst/>
          </a:prstGeom>
        </p:spPr>
      </p:pic>
      <p:pic>
        <p:nvPicPr>
          <p:cNvPr id="17696" name="Picture 17695" descr="Github Logo - Free social media icons">
            <a:extLst>
              <a:ext uri="{FF2B5EF4-FFF2-40B4-BE49-F238E27FC236}">
                <a16:creationId xmlns:a16="http://schemas.microsoft.com/office/drawing/2014/main" id="{7378953E-5E78-D9D1-2F52-D6BB4616BBC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90462" y="6099116"/>
            <a:ext cx="230545" cy="230545"/>
          </a:xfrm>
          <a:prstGeom prst="rect">
            <a:avLst/>
          </a:prstGeom>
        </p:spPr>
      </p:pic>
      <p:pic>
        <p:nvPicPr>
          <p:cNvPr id="17698" name="Picture 17697" descr="SQLite SVG and transparent PNG icons | TechIcons">
            <a:extLst>
              <a:ext uri="{FF2B5EF4-FFF2-40B4-BE49-F238E27FC236}">
                <a16:creationId xmlns:a16="http://schemas.microsoft.com/office/drawing/2014/main" id="{EBF58046-E3CA-A30B-089D-A9E7A01C967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05924" y="4886879"/>
            <a:ext cx="216995" cy="2169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83837"/>
            <a:ext cx="12191999" cy="17416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20823" y="-29294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9897" y="45525"/>
            <a:ext cx="1819924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NIRVANA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326" y="1500"/>
            <a:ext cx="1385610" cy="50323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B72C24-727F-171F-4D9E-CF8E1302C348}"/>
              </a:ext>
            </a:extLst>
          </p:cNvPr>
          <p:cNvCxnSpPr>
            <a:cxnSpLocks/>
          </p:cNvCxnSpPr>
          <p:nvPr/>
        </p:nvCxnSpPr>
        <p:spPr>
          <a:xfrm>
            <a:off x="-24415" y="645501"/>
            <a:ext cx="122408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439E24B-4FD1-D565-B9DA-C77AEB6F8344}"/>
              </a:ext>
            </a:extLst>
          </p:cNvPr>
          <p:cNvSpPr/>
          <p:nvPr/>
        </p:nvSpPr>
        <p:spPr>
          <a:xfrm>
            <a:off x="79897" y="742240"/>
            <a:ext cx="3728623" cy="5862899"/>
          </a:xfrm>
          <a:prstGeom prst="roundRect">
            <a:avLst>
              <a:gd name="adj" fmla="val 357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5F0660-4334-D695-A4E6-55FD112DF2A7}"/>
              </a:ext>
            </a:extLst>
          </p:cNvPr>
          <p:cNvSpPr txBox="1"/>
          <p:nvPr/>
        </p:nvSpPr>
        <p:spPr>
          <a:xfrm>
            <a:off x="79897" y="742241"/>
            <a:ext cx="38165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Feasibility :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188244E-4EF1-1BB2-1EFE-3A6A62C7DC4E}"/>
              </a:ext>
            </a:extLst>
          </p:cNvPr>
          <p:cNvSpPr/>
          <p:nvPr/>
        </p:nvSpPr>
        <p:spPr>
          <a:xfrm>
            <a:off x="213064" y="1305017"/>
            <a:ext cx="3595456" cy="1926455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5FAF020-6D69-98E9-C7DE-03CDD7E94B31}"/>
              </a:ext>
            </a:extLst>
          </p:cNvPr>
          <p:cNvSpPr/>
          <p:nvPr/>
        </p:nvSpPr>
        <p:spPr>
          <a:xfrm>
            <a:off x="146480" y="1123887"/>
            <a:ext cx="3595456" cy="1398959"/>
          </a:xfrm>
          <a:prstGeom prst="roundRect">
            <a:avLst>
              <a:gd name="adj" fmla="val 7139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5AB843-795D-A229-D032-FF9654E4806C}"/>
              </a:ext>
            </a:extLst>
          </p:cNvPr>
          <p:cNvSpPr txBox="1"/>
          <p:nvPr/>
        </p:nvSpPr>
        <p:spPr>
          <a:xfrm>
            <a:off x="50362" y="887235"/>
            <a:ext cx="39208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🔧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Technically Feasible: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using proven technologies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React, YOLOv8, OpenCV,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Scikit-learn.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Integrity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Planned permissioned blockchain for   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evidence hashes, case actions &amp; access logs.</a:t>
            </a: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Integration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APIs can integrate authorized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sources like FIR/legal records, CDR and RTO databases,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enabling unified investigation and evidence correlation.</a:t>
            </a:r>
          </a:p>
          <a:p>
            <a:pPr algn="ctr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86C1CBB-B459-FF05-95DF-3604D7777030}"/>
              </a:ext>
            </a:extLst>
          </p:cNvPr>
          <p:cNvSpPr/>
          <p:nvPr/>
        </p:nvSpPr>
        <p:spPr>
          <a:xfrm>
            <a:off x="125140" y="2602574"/>
            <a:ext cx="3595456" cy="1205946"/>
          </a:xfrm>
          <a:prstGeom prst="roundRect">
            <a:avLst>
              <a:gd name="adj" fmla="val 563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17B190-37BC-E20F-6B66-FEC31D4FCF42}"/>
              </a:ext>
            </a:extLst>
          </p:cNvPr>
          <p:cNvSpPr txBox="1"/>
          <p:nvPr/>
        </p:nvSpPr>
        <p:spPr>
          <a:xfrm>
            <a:off x="50362" y="2549424"/>
            <a:ext cx="4630392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⚙️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Fits the existing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investigator → evidence → analysis </a:t>
            </a: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decision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workflow.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Investigator-friendly dashboard for evidence search &amp; analysis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Graph + timeline + evidence views reduce manual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cross-referencing.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Human-in-the-loop approach keeps investigators in control.</a:t>
            </a: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523A841-9E66-10D6-DF43-35334F9F0E47}"/>
              </a:ext>
            </a:extLst>
          </p:cNvPr>
          <p:cNvSpPr/>
          <p:nvPr/>
        </p:nvSpPr>
        <p:spPr>
          <a:xfrm>
            <a:off x="125140" y="3872234"/>
            <a:ext cx="3595456" cy="1283276"/>
          </a:xfrm>
          <a:prstGeom prst="roundRect">
            <a:avLst>
              <a:gd name="adj" fmla="val 563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b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⚖️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AND SECURITY: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Follows applicable data protection laws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and cybersecurity regulations.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Role-based access, audit trails and blockchain-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based integrity checks protect sensitive evidence.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aligned with required legal approvals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while streamlining investigation workflows.</a:t>
            </a:r>
          </a:p>
          <a:p>
            <a:pPr algn="ctr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C860D9F-941C-CF8C-7DCE-875C4D7B08BA}"/>
              </a:ext>
            </a:extLst>
          </p:cNvPr>
          <p:cNvSpPr/>
          <p:nvPr/>
        </p:nvSpPr>
        <p:spPr>
          <a:xfrm>
            <a:off x="146480" y="5233771"/>
            <a:ext cx="3595456" cy="1283276"/>
          </a:xfrm>
          <a:prstGeom prst="roundRect">
            <a:avLst>
              <a:gd name="adj" fmla="val 563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FINANCIAL: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open-source technologies and 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existing infrastructure, minimizing development and 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deployment costs.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Cloud/on-premise deployment and modular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blockchain integration allow costs to scale with usage.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BEB0787-DA5D-5F71-E5C8-2892C9F7834A}"/>
              </a:ext>
            </a:extLst>
          </p:cNvPr>
          <p:cNvSpPr/>
          <p:nvPr/>
        </p:nvSpPr>
        <p:spPr>
          <a:xfrm>
            <a:off x="4016464" y="742241"/>
            <a:ext cx="3728623" cy="5862899"/>
          </a:xfrm>
          <a:prstGeom prst="roundRect">
            <a:avLst>
              <a:gd name="adj" fmla="val 3334"/>
            </a:avLst>
          </a:prstGeom>
          <a:solidFill>
            <a:srgbClr val="DCF0C6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77C641-8006-ABFD-8DDE-298B9FA0A335}"/>
              </a:ext>
            </a:extLst>
          </p:cNvPr>
          <p:cNvSpPr txBox="1"/>
          <p:nvPr/>
        </p:nvSpPr>
        <p:spPr>
          <a:xfrm>
            <a:off x="4091241" y="742241"/>
            <a:ext cx="15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Viability : </a:t>
            </a:r>
          </a:p>
        </p:txBody>
      </p:sp>
      <p:pic>
        <p:nvPicPr>
          <p:cNvPr id="52" name="Picture 51" descr="Viability Icon Glyph Vector Illustration Stock Vector (Royalty Free)  2669902159 | Shutterstock">
            <a:extLst>
              <a:ext uri="{FF2B5EF4-FFF2-40B4-BE49-F238E27FC236}">
                <a16:creationId xmlns:a16="http://schemas.microsoft.com/office/drawing/2014/main" id="{BEAE5294-52CB-8A36-BB32-61748E512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822" y="775470"/>
            <a:ext cx="289655" cy="308965"/>
          </a:xfrm>
          <a:prstGeom prst="rect">
            <a:avLst/>
          </a:prstGeom>
        </p:spPr>
      </p:pic>
      <p:pic>
        <p:nvPicPr>
          <p:cNvPr id="53" name="Picture 52" descr="Feasibility Icon Line Style Vector Illustration Stock Vector (Royalty Free) 2692032923 | Shutterstock">
            <a:extLst>
              <a:ext uri="{FF2B5EF4-FFF2-40B4-BE49-F238E27FC236}">
                <a16:creationId xmlns:a16="http://schemas.microsoft.com/office/drawing/2014/main" id="{9F3DE2BC-690F-4EE0-174C-7747930B8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67928" y="757298"/>
            <a:ext cx="314841" cy="33905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78E3FD6-5674-9D08-12F9-181A84C19E87}"/>
              </a:ext>
            </a:extLst>
          </p:cNvPr>
          <p:cNvSpPr/>
          <p:nvPr/>
        </p:nvSpPr>
        <p:spPr>
          <a:xfrm>
            <a:off x="4177822" y="1146864"/>
            <a:ext cx="3314931" cy="1311711"/>
          </a:xfrm>
          <a:prstGeom prst="roundRect">
            <a:avLst>
              <a:gd name="adj" fmla="val 563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29D6F5-8163-19C5-9D0B-698C9264C21A}"/>
              </a:ext>
            </a:extLst>
          </p:cNvPr>
          <p:cNvSpPr txBox="1"/>
          <p:nvPr/>
        </p:nvSpPr>
        <p:spPr>
          <a:xfrm>
            <a:off x="4226191" y="1228827"/>
            <a:ext cx="34279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📈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IN" sz="1100" b="1" dirty="0"/>
              <a:t>:</a:t>
            </a:r>
            <a:r>
              <a:rPr lang="en-IN" sz="1100" dirty="0"/>
              <a:t> SQLite prototype can scale to PostgreSQL for  production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en-IN" sz="1100" dirty="0"/>
              <a:t>.</a:t>
            </a:r>
            <a:br>
              <a:rPr lang="en-IN" sz="1100" dirty="0"/>
            </a:b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/>
              <a:t>♻  </a:t>
            </a:r>
            <a:r>
              <a:rPr lang="en-IN" sz="1100" b="1" dirty="0"/>
              <a:t>Sustainable:</a:t>
            </a:r>
            <a:r>
              <a:rPr lang="en-IN" sz="1100" dirty="0"/>
              <a:t> Modular architecture allows future AI, </a:t>
            </a:r>
          </a:p>
          <a:p>
            <a:r>
              <a:rPr lang="en-IN" sz="1100" dirty="0"/>
              <a:t> data-source and security upgrades without major redesign.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A0271AF-F43B-A58C-2622-7E35E7973FF8}"/>
              </a:ext>
            </a:extLst>
          </p:cNvPr>
          <p:cNvSpPr/>
          <p:nvPr/>
        </p:nvSpPr>
        <p:spPr>
          <a:xfrm>
            <a:off x="4214062" y="2623190"/>
            <a:ext cx="3333426" cy="1160828"/>
          </a:xfrm>
          <a:prstGeom prst="roundRect">
            <a:avLst>
              <a:gd name="adj" fmla="val 563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8" name="TextBox 17407">
            <a:extLst>
              <a:ext uri="{FF2B5EF4-FFF2-40B4-BE49-F238E27FC236}">
                <a16:creationId xmlns:a16="http://schemas.microsoft.com/office/drawing/2014/main" id="{69A62647-BDED-8639-12BF-F7AC4A98735F}"/>
              </a:ext>
            </a:extLst>
          </p:cNvPr>
          <p:cNvSpPr txBox="1"/>
          <p:nvPr/>
        </p:nvSpPr>
        <p:spPr>
          <a:xfrm>
            <a:off x="4296053" y="2740039"/>
            <a:ext cx="3196700" cy="1107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⊕</a:t>
            </a:r>
            <a:r>
              <a:rPr lang="en-IN" sz="1100" dirty="0"/>
              <a:t>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Extensible: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datasets, AI models and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authorized agency sources can be integrated.</a:t>
            </a: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/>
              <a:t>🚀 </a:t>
            </a:r>
            <a:r>
              <a:rPr lang="en-IN" sz="1100" b="1" dirty="0"/>
              <a:t>Deployable:</a:t>
            </a:r>
            <a:r>
              <a:rPr lang="en-IN" sz="1100" dirty="0"/>
              <a:t> Can be deployed in real </a:t>
            </a:r>
          </a:p>
          <a:p>
            <a:r>
              <a:rPr lang="en-IN" sz="1100" dirty="0"/>
              <a:t> police/institutional environments.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/>
          </a:p>
        </p:txBody>
      </p:sp>
      <p:sp>
        <p:nvSpPr>
          <p:cNvPr id="17412" name="Rectangle: Rounded Corners 17411">
            <a:extLst>
              <a:ext uri="{FF2B5EF4-FFF2-40B4-BE49-F238E27FC236}">
                <a16:creationId xmlns:a16="http://schemas.microsoft.com/office/drawing/2014/main" id="{3551F3C4-5E2F-436C-D717-05632B222A1E}"/>
              </a:ext>
            </a:extLst>
          </p:cNvPr>
          <p:cNvSpPr/>
          <p:nvPr/>
        </p:nvSpPr>
        <p:spPr>
          <a:xfrm>
            <a:off x="4246185" y="4008531"/>
            <a:ext cx="3333426" cy="1033986"/>
          </a:xfrm>
          <a:prstGeom prst="roundRect">
            <a:avLst>
              <a:gd name="adj" fmla="val 563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3" name="TextBox 17412">
            <a:extLst>
              <a:ext uri="{FF2B5EF4-FFF2-40B4-BE49-F238E27FC236}">
                <a16:creationId xmlns:a16="http://schemas.microsoft.com/office/drawing/2014/main" id="{9D39A396-BD1F-965F-0BD6-AAEC7C2B6E9F}"/>
              </a:ext>
            </a:extLst>
          </p:cNvPr>
          <p:cNvSpPr txBox="1"/>
          <p:nvPr/>
        </p:nvSpPr>
        <p:spPr>
          <a:xfrm>
            <a:off x="4648478" y="4196029"/>
            <a:ext cx="248029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Trust-ready: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Permissioned blockchain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can secure evidence integrity while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sensitive data remains off-chain.</a:t>
            </a:r>
          </a:p>
        </p:txBody>
      </p:sp>
      <p:pic>
        <p:nvPicPr>
          <p:cNvPr id="17414" name="Picture 17413" descr="Trust symbol Images - Free Download on Magnific (formerly Freepik)">
            <a:extLst>
              <a:ext uri="{FF2B5EF4-FFF2-40B4-BE49-F238E27FC236}">
                <a16:creationId xmlns:a16="http://schemas.microsoft.com/office/drawing/2014/main" id="{4C68386D-6373-E068-BBE7-8798C49AB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5713" y="4070385"/>
            <a:ext cx="555810" cy="555810"/>
          </a:xfrm>
          <a:prstGeom prst="rect">
            <a:avLst/>
          </a:prstGeom>
        </p:spPr>
      </p:pic>
      <p:sp>
        <p:nvSpPr>
          <p:cNvPr id="17416" name="Rectangle: Rounded Corners 17415">
            <a:extLst>
              <a:ext uri="{FF2B5EF4-FFF2-40B4-BE49-F238E27FC236}">
                <a16:creationId xmlns:a16="http://schemas.microsoft.com/office/drawing/2014/main" id="{E51147F5-4556-12F3-F555-2E95DA9293F0}"/>
              </a:ext>
            </a:extLst>
          </p:cNvPr>
          <p:cNvSpPr/>
          <p:nvPr/>
        </p:nvSpPr>
        <p:spPr>
          <a:xfrm>
            <a:off x="4273672" y="5306835"/>
            <a:ext cx="3333426" cy="1033986"/>
          </a:xfrm>
          <a:prstGeom prst="roundRect">
            <a:avLst>
              <a:gd name="adj" fmla="val 563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7" name="Picture 17416" descr="Green indian rupee icon - Free green currency icons">
            <a:extLst>
              <a:ext uri="{FF2B5EF4-FFF2-40B4-BE49-F238E27FC236}">
                <a16:creationId xmlns:a16="http://schemas.microsoft.com/office/drawing/2014/main" id="{6C35D12D-20AA-1034-8601-935CE72005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5896" y="5473626"/>
            <a:ext cx="283162" cy="283162"/>
          </a:xfrm>
          <a:prstGeom prst="rect">
            <a:avLst/>
          </a:prstGeom>
        </p:spPr>
      </p:pic>
      <p:sp>
        <p:nvSpPr>
          <p:cNvPr id="17420" name="TextBox 17419">
            <a:extLst>
              <a:ext uri="{FF2B5EF4-FFF2-40B4-BE49-F238E27FC236}">
                <a16:creationId xmlns:a16="http://schemas.microsoft.com/office/drawing/2014/main" id="{67CBF87F-41E6-8B29-729B-FA99692480F6}"/>
              </a:ext>
            </a:extLst>
          </p:cNvPr>
          <p:cNvSpPr txBox="1"/>
          <p:nvPr/>
        </p:nvSpPr>
        <p:spPr>
          <a:xfrm>
            <a:off x="4392643" y="5495692"/>
            <a:ext cx="319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mostly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</a:t>
            </a: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technologies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software licensing costs.</a:t>
            </a:r>
            <a:endParaRPr lang="en-IN" sz="1100" dirty="0"/>
          </a:p>
        </p:txBody>
      </p:sp>
      <p:sp>
        <p:nvSpPr>
          <p:cNvPr id="17422" name="Rectangle: Rounded Corners 17421">
            <a:extLst>
              <a:ext uri="{FF2B5EF4-FFF2-40B4-BE49-F238E27FC236}">
                <a16:creationId xmlns:a16="http://schemas.microsoft.com/office/drawing/2014/main" id="{68379676-C4A1-794F-C8B2-8488140DD332}"/>
              </a:ext>
            </a:extLst>
          </p:cNvPr>
          <p:cNvSpPr/>
          <p:nvPr/>
        </p:nvSpPr>
        <p:spPr>
          <a:xfrm>
            <a:off x="7994721" y="757298"/>
            <a:ext cx="3728623" cy="5926539"/>
          </a:xfrm>
          <a:prstGeom prst="roundRect">
            <a:avLst>
              <a:gd name="adj" fmla="val 333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4" name="Rectangle: Rounded Corners 17423">
            <a:extLst>
              <a:ext uri="{FF2B5EF4-FFF2-40B4-BE49-F238E27FC236}">
                <a16:creationId xmlns:a16="http://schemas.microsoft.com/office/drawing/2014/main" id="{8246CBA8-ECF5-CF62-5582-1A21D1524BC2}"/>
              </a:ext>
            </a:extLst>
          </p:cNvPr>
          <p:cNvSpPr/>
          <p:nvPr/>
        </p:nvSpPr>
        <p:spPr>
          <a:xfrm>
            <a:off x="8157422" y="1213550"/>
            <a:ext cx="3314931" cy="1311711"/>
          </a:xfrm>
          <a:prstGeom prst="roundRect">
            <a:avLst>
              <a:gd name="adj" fmla="val 563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5" name="TextBox 17424">
            <a:extLst>
              <a:ext uri="{FF2B5EF4-FFF2-40B4-BE49-F238E27FC236}">
                <a16:creationId xmlns:a16="http://schemas.microsoft.com/office/drawing/2014/main" id="{FCE2CD0A-6233-464D-04BE-BF89DE3FB18E}"/>
              </a:ext>
            </a:extLst>
          </p:cNvPr>
          <p:cNvSpPr txBox="1"/>
          <p:nvPr/>
        </p:nvSpPr>
        <p:spPr>
          <a:xfrm>
            <a:off x="8153647" y="802103"/>
            <a:ext cx="3686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Potential Challenges &amp; Mitigations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6" name="TextBox 17425">
            <a:extLst>
              <a:ext uri="{FF2B5EF4-FFF2-40B4-BE49-F238E27FC236}">
                <a16:creationId xmlns:a16="http://schemas.microsoft.com/office/drawing/2014/main" id="{76EEBA9C-3FBB-F20A-0574-5019710D13BC}"/>
              </a:ext>
            </a:extLst>
          </p:cNvPr>
          <p:cNvSpPr txBox="1"/>
          <p:nvPr/>
        </p:nvSpPr>
        <p:spPr>
          <a:xfrm>
            <a:off x="8153647" y="1213549"/>
            <a:ext cx="331870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Quality &amp; Entity Resolution -- </a:t>
            </a:r>
            <a:br>
              <a:rPr lang="en-IN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Missing, inconsistent or conflicting records may cause incorrect entity links affecting investigation results.</a:t>
            </a:r>
          </a:p>
          <a:p>
            <a:r>
              <a:rPr lang="en-IN" sz="1100" b="1" dirty="0">
                <a:solidFill>
                  <a:srgbClr val="008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IN" sz="11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en-IN" sz="1100" b="1" dirty="0">
                <a:solidFill>
                  <a:srgbClr val="005C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100" dirty="0">
                <a:solidFill>
                  <a:srgbClr val="005C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dding confidence score for generated relationships + </a:t>
            </a:r>
            <a:r>
              <a:rPr lang="en-IN" sz="1100" dirty="0">
                <a:solidFill>
                  <a:srgbClr val="005C2A"/>
                </a:solidFill>
              </a:rPr>
              <a:t>multi-source cross verification + normalization and Data validation (Investigators verify generated relationships and insights before action).</a:t>
            </a:r>
            <a:endParaRPr lang="en-IN" sz="1100" dirty="0">
              <a:solidFill>
                <a:srgbClr val="005C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7" name="Flowchart: Connector 17426">
            <a:extLst>
              <a:ext uri="{FF2B5EF4-FFF2-40B4-BE49-F238E27FC236}">
                <a16:creationId xmlns:a16="http://schemas.microsoft.com/office/drawing/2014/main" id="{9EC91478-D485-B374-CCF4-6D4CA1B12FF3}"/>
              </a:ext>
            </a:extLst>
          </p:cNvPr>
          <p:cNvSpPr/>
          <p:nvPr/>
        </p:nvSpPr>
        <p:spPr>
          <a:xfrm>
            <a:off x="8238477" y="1254564"/>
            <a:ext cx="221942" cy="17654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9" name="Rectangle: Rounded Corners 17428">
            <a:extLst>
              <a:ext uri="{FF2B5EF4-FFF2-40B4-BE49-F238E27FC236}">
                <a16:creationId xmlns:a16="http://schemas.microsoft.com/office/drawing/2014/main" id="{995776A0-D529-4DE1-A770-47803A316761}"/>
              </a:ext>
            </a:extLst>
          </p:cNvPr>
          <p:cNvSpPr/>
          <p:nvPr/>
        </p:nvSpPr>
        <p:spPr>
          <a:xfrm>
            <a:off x="8178692" y="2647542"/>
            <a:ext cx="3314931" cy="972603"/>
          </a:xfrm>
          <a:prstGeom prst="roundRect">
            <a:avLst>
              <a:gd name="adj" fmla="val 563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5" name="Flowchart: Connector 17434">
            <a:extLst>
              <a:ext uri="{FF2B5EF4-FFF2-40B4-BE49-F238E27FC236}">
                <a16:creationId xmlns:a16="http://schemas.microsoft.com/office/drawing/2014/main" id="{3BED49C7-F10C-B8CE-F91C-80154FDA01E5}"/>
              </a:ext>
            </a:extLst>
          </p:cNvPr>
          <p:cNvSpPr/>
          <p:nvPr/>
        </p:nvSpPr>
        <p:spPr>
          <a:xfrm>
            <a:off x="8229599" y="2691776"/>
            <a:ext cx="221942" cy="17654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7" name="TextBox 17436">
            <a:extLst>
              <a:ext uri="{FF2B5EF4-FFF2-40B4-BE49-F238E27FC236}">
                <a16:creationId xmlns:a16="http://schemas.microsoft.com/office/drawing/2014/main" id="{E1BC4259-D55C-9725-13B4-066877F94F40}"/>
              </a:ext>
            </a:extLst>
          </p:cNvPr>
          <p:cNvSpPr txBox="1"/>
          <p:nvPr/>
        </p:nvSpPr>
        <p:spPr>
          <a:xfrm>
            <a:off x="8178692" y="2647542"/>
            <a:ext cx="340370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Accuracy</a:t>
            </a:r>
            <a:r>
              <a:rPr lang="en-IN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OCR, vehicle/person detection and anomaly detection can produce false positives/negatives</a:t>
            </a:r>
          </a:p>
          <a:p>
            <a:r>
              <a:rPr lang="en-IN" sz="1100" b="1" dirty="0">
                <a:solidFill>
                  <a:srgbClr val="008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IN" sz="11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100" dirty="0">
                <a:solidFill>
                  <a:srgbClr val="005C2A"/>
                </a:solidFill>
              </a:rPr>
              <a:t>Human-in-the-loop validation(Investigator not the model , makes the final decision by verifying results) + continuous model evaluation</a:t>
            </a:r>
            <a:endParaRPr lang="en-IN" sz="1100" dirty="0">
              <a:solidFill>
                <a:srgbClr val="005C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9" name="Rectangle: Rounded Corners 17438">
            <a:extLst>
              <a:ext uri="{FF2B5EF4-FFF2-40B4-BE49-F238E27FC236}">
                <a16:creationId xmlns:a16="http://schemas.microsoft.com/office/drawing/2014/main" id="{A5E9EBC6-F38B-A7EF-DCF2-E2BCD2CA29AF}"/>
              </a:ext>
            </a:extLst>
          </p:cNvPr>
          <p:cNvSpPr/>
          <p:nvPr/>
        </p:nvSpPr>
        <p:spPr>
          <a:xfrm>
            <a:off x="8178692" y="3692763"/>
            <a:ext cx="3299274" cy="1039035"/>
          </a:xfrm>
          <a:prstGeom prst="roundRect">
            <a:avLst>
              <a:gd name="adj" fmla="val 563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3" name="Flowchart: Connector 17442">
            <a:extLst>
              <a:ext uri="{FF2B5EF4-FFF2-40B4-BE49-F238E27FC236}">
                <a16:creationId xmlns:a16="http://schemas.microsoft.com/office/drawing/2014/main" id="{B8D05F5A-3473-8161-D969-8DA21282A7D9}"/>
              </a:ext>
            </a:extLst>
          </p:cNvPr>
          <p:cNvSpPr/>
          <p:nvPr/>
        </p:nvSpPr>
        <p:spPr>
          <a:xfrm>
            <a:off x="8212287" y="3742668"/>
            <a:ext cx="221942" cy="17654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4" name="TextBox 17443">
            <a:extLst>
              <a:ext uri="{FF2B5EF4-FFF2-40B4-BE49-F238E27FC236}">
                <a16:creationId xmlns:a16="http://schemas.microsoft.com/office/drawing/2014/main" id="{BC837B16-5D2B-4894-87A9-BDB38524BAFA}"/>
              </a:ext>
            </a:extLst>
          </p:cNvPr>
          <p:cNvSpPr txBox="1"/>
          <p:nvPr/>
        </p:nvSpPr>
        <p:spPr>
          <a:xfrm>
            <a:off x="8185910" y="3586261"/>
            <a:ext cx="3346243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</a:t>
            </a:r>
            <a:r>
              <a:rPr lang="en-IN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&amp; Access Control</a:t>
            </a:r>
            <a:r>
              <a:rPr lang="en-IN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Investigation data contains highly sensitive information.</a:t>
            </a:r>
          </a:p>
          <a:p>
            <a:r>
              <a:rPr lang="en-IN" sz="1100" b="1" dirty="0">
                <a:solidFill>
                  <a:srgbClr val="008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IN" sz="11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100" dirty="0">
                <a:solidFill>
                  <a:srgbClr val="005C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100" dirty="0">
                <a:solidFill>
                  <a:srgbClr val="005C2A"/>
                </a:solidFill>
              </a:rPr>
              <a:t>ecure RBAC(Role Based Access Control) + Audit Logs: Restrict sensitive operations by roles like Investigator / Analyst /Super admin and records critical actions.</a:t>
            </a:r>
            <a:endParaRPr lang="en-IN" sz="1100" dirty="0">
              <a:solidFill>
                <a:srgbClr val="005C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8" name="Rectangle: Rounded Corners 17447">
            <a:extLst>
              <a:ext uri="{FF2B5EF4-FFF2-40B4-BE49-F238E27FC236}">
                <a16:creationId xmlns:a16="http://schemas.microsoft.com/office/drawing/2014/main" id="{D25F8AB8-5C95-BB38-FC24-8E86B3335779}"/>
              </a:ext>
            </a:extLst>
          </p:cNvPr>
          <p:cNvSpPr/>
          <p:nvPr/>
        </p:nvSpPr>
        <p:spPr>
          <a:xfrm>
            <a:off x="8153647" y="4796192"/>
            <a:ext cx="3428753" cy="1802945"/>
          </a:xfrm>
          <a:prstGeom prst="roundRect">
            <a:avLst>
              <a:gd name="adj" fmla="val 5634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50" name="Flowchart: Connector 17449">
            <a:extLst>
              <a:ext uri="{FF2B5EF4-FFF2-40B4-BE49-F238E27FC236}">
                <a16:creationId xmlns:a16="http://schemas.microsoft.com/office/drawing/2014/main" id="{8B8820AD-7578-4780-E8CC-C42DCDA410D7}"/>
              </a:ext>
            </a:extLst>
          </p:cNvPr>
          <p:cNvSpPr/>
          <p:nvPr/>
        </p:nvSpPr>
        <p:spPr>
          <a:xfrm>
            <a:off x="8185910" y="4830077"/>
            <a:ext cx="221942" cy="176548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52" name="TextBox 17451">
            <a:extLst>
              <a:ext uri="{FF2B5EF4-FFF2-40B4-BE49-F238E27FC236}">
                <a16:creationId xmlns:a16="http://schemas.microsoft.com/office/drawing/2014/main" id="{F07C14FD-3368-73A8-7482-0E87A6C09142}"/>
              </a:ext>
            </a:extLst>
          </p:cNvPr>
          <p:cNvSpPr txBox="1"/>
          <p:nvPr/>
        </p:nvSpPr>
        <p:spPr>
          <a:xfrm>
            <a:off x="7994721" y="4776031"/>
            <a:ext cx="3845591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100" dirty="0"/>
              <a:t> </a:t>
            </a:r>
            <a:r>
              <a:rPr lang="en-IN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Integrity</a:t>
            </a:r>
            <a:r>
              <a:rPr lang="en-IN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Investigation evidence must   </a:t>
            </a:r>
          </a:p>
          <a:p>
            <a:r>
              <a:rPr lang="en-IN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remain verifiable and tamper-evident.</a:t>
            </a:r>
          </a:p>
          <a:p>
            <a:r>
              <a:rPr lang="en-IN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100" b="1" dirty="0">
                <a:solidFill>
                  <a:srgbClr val="008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IN" sz="11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100" dirty="0">
                <a:solidFill>
                  <a:srgbClr val="005C2A"/>
                </a:solidFill>
              </a:rPr>
              <a:t>Generate a SHA-256 hash for evidence and  </a:t>
            </a:r>
          </a:p>
          <a:p>
            <a:r>
              <a:rPr lang="en-IN" sz="1100" dirty="0">
                <a:solidFill>
                  <a:srgbClr val="005C2A"/>
                </a:solidFill>
              </a:rPr>
              <a:t>     record the hash/audit event on a proposed permissioned </a:t>
            </a:r>
          </a:p>
          <a:p>
            <a:r>
              <a:rPr lang="en-IN" sz="1100" dirty="0">
                <a:solidFill>
                  <a:srgbClr val="005C2A"/>
                </a:solidFill>
              </a:rPr>
              <a:t>    Hyperledger Fabric network,</a:t>
            </a:r>
            <a:r>
              <a:rPr lang="en-IN" sz="1100" dirty="0">
                <a:solidFill>
                  <a:srgbClr val="005C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whenever evidence is accessed,  </a:t>
            </a:r>
          </a:p>
          <a:p>
            <a:r>
              <a:rPr lang="en-IN" sz="1100" dirty="0">
                <a:solidFill>
                  <a:srgbClr val="005C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its current hash is compared with blockchain recorded  hash </a:t>
            </a:r>
          </a:p>
          <a:p>
            <a:r>
              <a:rPr lang="en-IN" sz="1100" dirty="0">
                <a:solidFill>
                  <a:srgbClr val="005C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to identify  whether evidence is tampered or not </a:t>
            </a:r>
            <a:r>
              <a:rPr lang="en-IN" sz="1100" dirty="0">
                <a:solidFill>
                  <a:srgbClr val="005C2A"/>
                </a:solidFill>
              </a:rPr>
              <a:t>; sensitive   </a:t>
            </a:r>
          </a:p>
          <a:p>
            <a:r>
              <a:rPr lang="en-IN" sz="1100" dirty="0">
                <a:solidFill>
                  <a:srgbClr val="005C2A"/>
                </a:solidFill>
              </a:rPr>
              <a:t>    evidence itself remains off-chain(Sensitive evidence is </a:t>
            </a:r>
          </a:p>
          <a:p>
            <a:r>
              <a:rPr lang="en-IN" sz="1100" dirty="0">
                <a:solidFill>
                  <a:srgbClr val="005C2A"/>
                </a:solidFill>
              </a:rPr>
              <a:t>    securely stored outside the blockchain; only its hash is</a:t>
            </a:r>
          </a:p>
          <a:p>
            <a:r>
              <a:rPr lang="en-IN" sz="1100" dirty="0">
                <a:solidFill>
                  <a:srgbClr val="005C2A"/>
                </a:solidFill>
              </a:rPr>
              <a:t>    recorded on-chain).</a:t>
            </a:r>
          </a:p>
          <a:p>
            <a:endParaRPr lang="en-IN" sz="1100" dirty="0">
              <a:solidFill>
                <a:srgbClr val="005C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9009"/>
            <a:ext cx="12191999" cy="30420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71744" y="-24162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3" y="29429"/>
            <a:ext cx="1782239" cy="6008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NIRVANA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837" y="1501"/>
            <a:ext cx="1350098" cy="503238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0F95C37-AAEC-825A-2719-446A0D8DA257}"/>
              </a:ext>
            </a:extLst>
          </p:cNvPr>
          <p:cNvCxnSpPr>
            <a:cxnSpLocks/>
          </p:cNvCxnSpPr>
          <p:nvPr/>
        </p:nvCxnSpPr>
        <p:spPr>
          <a:xfrm flipV="1">
            <a:off x="-1" y="661175"/>
            <a:ext cx="12192000" cy="14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DA445B-1607-B272-F73B-F5400D423601}"/>
              </a:ext>
            </a:extLst>
          </p:cNvPr>
          <p:cNvSpPr txBox="1"/>
          <p:nvPr/>
        </p:nvSpPr>
        <p:spPr>
          <a:xfrm>
            <a:off x="41203" y="737276"/>
            <a:ext cx="3943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IMPACT ON TARGET USERS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A4475EF-ECE8-F2CF-7EE5-D70405CD39B1}"/>
              </a:ext>
            </a:extLst>
          </p:cNvPr>
          <p:cNvSpPr/>
          <p:nvPr/>
        </p:nvSpPr>
        <p:spPr>
          <a:xfrm>
            <a:off x="162062" y="1171123"/>
            <a:ext cx="5016328" cy="1231105"/>
          </a:xfrm>
          <a:prstGeom prst="roundRect">
            <a:avLst>
              <a:gd name="adj" fmla="val 5720"/>
            </a:avLst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6816E8-4FEB-75F3-AD81-1E6CAB345A71}"/>
              </a:ext>
            </a:extLst>
          </p:cNvPr>
          <p:cNvSpPr txBox="1"/>
          <p:nvPr/>
        </p:nvSpPr>
        <p:spPr>
          <a:xfrm>
            <a:off x="242350" y="1211835"/>
            <a:ext cx="493604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👮 Investigators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Connects FIR, CDR, CCTV, financial, RTO &amp; location evidence in one view resulting in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investigations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reducing manual cross-referencing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Keeps the investigation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investigator in control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human-validated AI insights.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476E706-C928-ED8A-1E5F-D7EBCFE6591F}"/>
              </a:ext>
            </a:extLst>
          </p:cNvPr>
          <p:cNvSpPr/>
          <p:nvPr/>
        </p:nvSpPr>
        <p:spPr>
          <a:xfrm>
            <a:off x="162064" y="2502587"/>
            <a:ext cx="5016328" cy="1064078"/>
          </a:xfrm>
          <a:prstGeom prst="roundRect">
            <a:avLst>
              <a:gd name="adj" fmla="val 5720"/>
            </a:avLst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273112-83EF-2056-AD4A-993E13F35FA6}"/>
              </a:ext>
            </a:extLst>
          </p:cNvPr>
          <p:cNvSpPr txBox="1"/>
          <p:nvPr/>
        </p:nvSpPr>
        <p:spPr>
          <a:xfrm>
            <a:off x="162060" y="2502587"/>
            <a:ext cx="5256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🛡️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 / Intelligence Analysts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Graph and timeline analysis makes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relationships, hotspots and key actors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easier to interpret.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explainable trail from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→ relationship → insight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B161499-6A7C-CA89-F0AF-274466F69901}"/>
              </a:ext>
            </a:extLst>
          </p:cNvPr>
          <p:cNvSpPr/>
          <p:nvPr/>
        </p:nvSpPr>
        <p:spPr>
          <a:xfrm>
            <a:off x="162059" y="3726180"/>
            <a:ext cx="5016333" cy="902486"/>
          </a:xfrm>
          <a:prstGeom prst="roundRect">
            <a:avLst>
              <a:gd name="adj" fmla="val 5720"/>
            </a:avLst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682BA-B554-01E3-A8C8-42EF5EB71C3D}"/>
              </a:ext>
            </a:extLst>
          </p:cNvPr>
          <p:cNvSpPr txBox="1"/>
          <p:nvPr/>
        </p:nvSpPr>
        <p:spPr>
          <a:xfrm>
            <a:off x="202206" y="3755661"/>
            <a:ext cx="50163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🏛️ Senior Officers / Investigation Managers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Case progress becomes easier to review and audit.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Standardized investigation records improve coordination between teams/agencies.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9FABD23-06FB-3A56-3C2D-276DD3250CF2}"/>
              </a:ext>
            </a:extLst>
          </p:cNvPr>
          <p:cNvSpPr/>
          <p:nvPr/>
        </p:nvSpPr>
        <p:spPr>
          <a:xfrm>
            <a:off x="162064" y="4778540"/>
            <a:ext cx="5016326" cy="1077537"/>
          </a:xfrm>
          <a:prstGeom prst="roundRect">
            <a:avLst>
              <a:gd name="adj" fmla="val 5720"/>
            </a:avLst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910F93-8F29-0D6D-ACF0-0433E550B9BC}"/>
              </a:ext>
            </a:extLst>
          </p:cNvPr>
          <p:cNvSpPr txBox="1"/>
          <p:nvPr/>
        </p:nvSpPr>
        <p:spPr>
          <a:xfrm>
            <a:off x="162060" y="4819253"/>
            <a:ext cx="50163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⚖️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Agencies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role-based access prevents unauthorized evidence exposure.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Evidence hashes + audit trails strengthen chain-of-custody assurance.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controlled case/evidence transfer between authorized agencies.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2DAE6-5212-6DDF-0A15-B75940083948}"/>
              </a:ext>
            </a:extLst>
          </p:cNvPr>
          <p:cNvSpPr txBox="1"/>
          <p:nvPr/>
        </p:nvSpPr>
        <p:spPr>
          <a:xfrm>
            <a:off x="5502481" y="732094"/>
            <a:ext cx="3201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SOLUTION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B3E8174-432C-2AF1-CAEB-09F80AB97BF6}"/>
              </a:ext>
            </a:extLst>
          </p:cNvPr>
          <p:cNvSpPr/>
          <p:nvPr/>
        </p:nvSpPr>
        <p:spPr>
          <a:xfrm>
            <a:off x="5499311" y="1171124"/>
            <a:ext cx="5261733" cy="1331463"/>
          </a:xfrm>
          <a:prstGeom prst="roundRect">
            <a:avLst>
              <a:gd name="adj" fmla="val 5720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2F82CB-57D3-0616-67F6-7A825E01CD3B}"/>
              </a:ext>
            </a:extLst>
          </p:cNvPr>
          <p:cNvSpPr txBox="1"/>
          <p:nvPr/>
        </p:nvSpPr>
        <p:spPr>
          <a:xfrm>
            <a:off x="5508783" y="1202454"/>
            <a:ext cx="54349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👥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public safety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faster identification of suspicious networks and connections.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Reduces dependence on purely manual investigation and helps investigators handle complex cases.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D653BA6-1B4C-4288-5ED7-B12B43E6F95E}"/>
              </a:ext>
            </a:extLst>
          </p:cNvPr>
          <p:cNvSpPr/>
          <p:nvPr/>
        </p:nvSpPr>
        <p:spPr>
          <a:xfrm>
            <a:off x="5516395" y="2789850"/>
            <a:ext cx="5261733" cy="1328108"/>
          </a:xfrm>
          <a:prstGeom prst="roundRect">
            <a:avLst>
              <a:gd name="adj" fmla="val 5720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D9C013-2965-1AAD-3A03-C13BDC055FC0}"/>
              </a:ext>
            </a:extLst>
          </p:cNvPr>
          <p:cNvSpPr txBox="1"/>
          <p:nvPr/>
        </p:nvSpPr>
        <p:spPr>
          <a:xfrm>
            <a:off x="5516395" y="2789783"/>
            <a:ext cx="54349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&amp; Operational Benefits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investigator time spent manually correlating multiple datasets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deployment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predominantly open-source technologies and existing investigation infrastructure..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8D5654F-C6C7-CFB1-2E12-696A99609440}"/>
              </a:ext>
            </a:extLst>
          </p:cNvPr>
          <p:cNvSpPr/>
          <p:nvPr/>
        </p:nvSpPr>
        <p:spPr>
          <a:xfrm>
            <a:off x="5516395" y="4451817"/>
            <a:ext cx="5261733" cy="1376397"/>
          </a:xfrm>
          <a:prstGeom prst="roundRect">
            <a:avLst>
              <a:gd name="adj" fmla="val 5720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155074-EE14-F8F8-8970-384FE511D049}"/>
              </a:ext>
            </a:extLst>
          </p:cNvPr>
          <p:cNvSpPr txBox="1"/>
          <p:nvPr/>
        </p:nvSpPr>
        <p:spPr>
          <a:xfrm>
            <a:off x="5508783" y="4518412"/>
            <a:ext cx="52693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🛡️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Strategic Benefits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controlled access and auditability for sensitive investigation data.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Strengthens evidence integrity through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verification and audit trails</a:t>
            </a: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Creates a foundation for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AI-assisted, data-driven digital investigation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.</a:t>
            </a: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31806"/>
            <a:ext cx="12191999" cy="22619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5336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51259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6308" y="25932"/>
            <a:ext cx="1816661" cy="63327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NIRVANA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671" y="-8630"/>
            <a:ext cx="1182263" cy="503238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A5F34D5-0092-BBF7-FB89-D91AA6BC6C42}"/>
              </a:ext>
            </a:extLst>
          </p:cNvPr>
          <p:cNvCxnSpPr>
            <a:cxnSpLocks/>
          </p:cNvCxnSpPr>
          <p:nvPr/>
        </p:nvCxnSpPr>
        <p:spPr>
          <a:xfrm>
            <a:off x="-1" y="71722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0BE96D7-761E-184F-82B5-E6CF62413651}"/>
              </a:ext>
            </a:extLst>
          </p:cNvPr>
          <p:cNvSpPr txBox="1"/>
          <p:nvPr/>
        </p:nvSpPr>
        <p:spPr>
          <a:xfrm>
            <a:off x="-1" y="773900"/>
            <a:ext cx="539977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Criminal Network Analysis &amp; Knowledge Graphs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 Investigations and Network Analysis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George Mason University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Used for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Extracting actors, entities and 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relationships from textual data and  constructing dynamic criminal-network    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knowledge graphs.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://cina.gmu.edu/projects/using-deep-learning/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ROXANNE Research Platform: Automate Criminal Investigations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Fabien et al., INTERSPEECH 2021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speech, text,                      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video and criminal-network analysis 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Link: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https://www.isca-archive.org/fabien21_interspeech.pdf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Analytics &amp; Community Detection                                                     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Unfolding of Communities in Large Networks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Blondel et al., 2008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Louvain community detection and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criminal - group clustering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Link: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https://arxiv.org/pdf/0803.0476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&amp; Evidence Extraction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YOLOv8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 and vehicle detection in CCTV evidence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https://docs.ultralytics.com/models/yolov8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– Open Source Computer Vision Library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Foundation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CCTV preprocessing, image enhancement  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and  tracking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Link: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https://docs.opencv.org/5.0/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JaidedAI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license-plate and text extraction from visual evidence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Link (Repository):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https://github.com/JaidedAI/EasyOCR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420358-EE8E-38A9-1703-FCD4AD3EC563}"/>
              </a:ext>
            </a:extLst>
          </p:cNvPr>
          <p:cNvSpPr txBox="1"/>
          <p:nvPr/>
        </p:nvSpPr>
        <p:spPr>
          <a:xfrm>
            <a:off x="5370898" y="780122"/>
            <a:ext cx="685960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Integrity &amp; Blockchain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Hyperledger Fabric 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Hyperledger Foundation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permissioned evidence records and auditability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https://hyperledger-fabric.readthedocs.io/en/release-2.5/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•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FIPS 180-4 – Secure Hash Standard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: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evidence fingerprinting and integrity verification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Link 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https://nvlpubs.nist.gov/nistpubs/FIPS/NIST.FIPS.180-4.pdf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&amp; Knowledge Extraction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</a:t>
            </a:r>
            <a:r>
              <a:rPr lang="en-IN" sz="1400" dirty="0"/>
              <a:t>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Named Entity Recognition (NER)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Explosion / </a:t>
            </a:r>
            <a:r>
              <a:rPr lang="en-IN" sz="1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Used for: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extracting Person, Location &amp; other entities from FIRs, reports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Link 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https://spacy.io/usage/linguistic-features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Investigation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</a:t>
            </a:r>
            <a:r>
              <a:rPr lang="en-IN" sz="1400" dirty="0"/>
              <a:t>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for Knowledge-Intensive NLP Tasks  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Lewis et al., 2020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Used for: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evidence-backed AI investigation, retrieving relevant  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records/documents before generating investigation answers.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Link : 	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https://arxiv.org/pdf/2005.11401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Foundation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React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—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building the interactive investigator interface.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Link: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https://react.dev/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building the backend API that connects the investigation dashboard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Link 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15"/>
              </a:rPr>
              <a:t>https://fastapi.tiangolo.com/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 tasks such as risk/anomaly analysis, model evaluation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16"/>
              </a:rPr>
              <a:t>https://scikit-learn.org/stable/getting_started.html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storing case, evidence and investigation data.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17"/>
              </a:rPr>
              <a:t>https://www.sqlite.org/docs.html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388F94E-6297-F4D8-5CE5-75628B0D1EC2}"/>
              </a:ext>
            </a:extLst>
          </p:cNvPr>
          <p:cNvCxnSpPr>
            <a:cxnSpLocks/>
          </p:cNvCxnSpPr>
          <p:nvPr/>
        </p:nvCxnSpPr>
        <p:spPr>
          <a:xfrm>
            <a:off x="5370898" y="773900"/>
            <a:ext cx="28875" cy="585790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CA84E4-0828-AE61-25EA-2A07ABB3DD3D}"/>
              </a:ext>
            </a:extLst>
          </p:cNvPr>
          <p:cNvCxnSpPr>
            <a:cxnSpLocks/>
          </p:cNvCxnSpPr>
          <p:nvPr/>
        </p:nvCxnSpPr>
        <p:spPr>
          <a:xfrm flipV="1">
            <a:off x="-79390" y="3127829"/>
            <a:ext cx="12350777" cy="2925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297621E-D1D4-FC11-658C-B13FFD0296EF}"/>
              </a:ext>
            </a:extLst>
          </p:cNvPr>
          <p:cNvCxnSpPr>
            <a:cxnSpLocks/>
          </p:cNvCxnSpPr>
          <p:nvPr/>
        </p:nvCxnSpPr>
        <p:spPr>
          <a:xfrm flipV="1">
            <a:off x="-79391" y="4335105"/>
            <a:ext cx="12350777" cy="2925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11083</TotalTime>
  <Words>2282</Words>
  <Application>Microsoft Office PowerPoint</Application>
  <PresentationFormat>Widescreen</PresentationFormat>
  <Paragraphs>270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EviGraph: AI-Powered Criminal Network Analysis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Gourishetti Jayaram</cp:lastModifiedBy>
  <cp:revision>159</cp:revision>
  <dcterms:created xsi:type="dcterms:W3CDTF">2013-12-12T18:46:50Z</dcterms:created>
  <dcterms:modified xsi:type="dcterms:W3CDTF">2026-09-14T21:32:43Z</dcterms:modified>
  <cp:category/>
</cp:coreProperties>
</file>